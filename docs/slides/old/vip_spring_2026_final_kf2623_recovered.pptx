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9"/>
      <p:bold r:id="rId10"/>
      <p:italic r:id="rId11"/>
      <p:boldItalic r:id="rId12"/>
    </p:embeddedFont>
    <p:embeddedFont>
      <p:font typeface="Frank Ruhl Libre" pitchFamily="2" charset="-79"/>
      <p:regular r:id="rId13"/>
      <p:bold r:id="rId14"/>
    </p:embeddedFont>
    <p:embeddedFont>
      <p:font typeface="Montserrat" pitchFamily="2" charset="77"/>
      <p:regular r:id="rId15"/>
      <p:bold r:id="rId16"/>
      <p:italic r:id="rId17"/>
      <p:boldItalic r:id="rId18"/>
    </p:embeddedFont>
    <p:embeddedFont>
      <p:font typeface="Montserrat SemiBold" panose="00000700000000000000" pitchFamily="2" charset="77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59"/>
    <p:restoredTop sz="94516"/>
  </p:normalViewPr>
  <p:slideViewPr>
    <p:cSldViewPr snapToGrid="0">
      <p:cViewPr varScale="1">
        <p:scale>
          <a:sx n="169" d="100"/>
          <a:sy n="169" d="100"/>
        </p:scale>
        <p:origin x="192" y="10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17" Type="http://schemas.openxmlformats.org/officeDocument/2006/relationships/font" Target="fonts/font9.fntdata"/><Relationship Id="rId18" Type="http://schemas.openxmlformats.org/officeDocument/2006/relationships/font" Target="fonts/font10.fntdata"/><Relationship Id="rId19" Type="http://schemas.openxmlformats.org/officeDocument/2006/relationships/font" Target="fonts/font11.fntdata"/><Relationship Id="rId20" Type="http://schemas.openxmlformats.org/officeDocument/2006/relationships/font" Target="fonts/font12.fntdata"/><Relationship Id="rId21" Type="http://schemas.openxmlformats.org/officeDocument/2006/relationships/font" Target="fonts/font13.fntdata"/><Relationship Id="rId22" Type="http://schemas.openxmlformats.org/officeDocument/2006/relationships/font" Target="fonts/font14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220337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t="7490" b="7490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496200" y="3103614"/>
            <a:ext cx="4151400" cy="7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2"/>
          </p:nvPr>
        </p:nvSpPr>
        <p:spPr>
          <a:xfrm>
            <a:off x="2496200" y="4155404"/>
            <a:ext cx="4151400" cy="3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0550" y="480150"/>
            <a:ext cx="2462890" cy="3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587975"/>
            <a:ext cx="6551100" cy="6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800"/>
              <a:buNone/>
              <a:defRPr sz="4800">
                <a:solidFill>
                  <a:srgbClr val="57068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448400"/>
            <a:ext cx="6551100" cy="22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21" name="Google Shape;2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9792" y="4774257"/>
            <a:ext cx="1821726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587970"/>
            <a:ext cx="4945500" cy="11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800"/>
              <a:buNone/>
              <a:defRPr sz="48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2467949"/>
            <a:ext cx="3999900" cy="18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619925" y="2467949"/>
            <a:ext cx="3999900" cy="18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3"/>
          </p:nvPr>
        </p:nvSpPr>
        <p:spPr>
          <a:xfrm>
            <a:off x="311700" y="2054620"/>
            <a:ext cx="39999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4"/>
          </p:nvPr>
        </p:nvSpPr>
        <p:spPr>
          <a:xfrm>
            <a:off x="4619925" y="2054620"/>
            <a:ext cx="39999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dk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29" name="Google Shape;2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216" y="4824425"/>
            <a:ext cx="1821726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530680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" name="Google Shape;3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541" y="4824425"/>
            <a:ext cx="1821726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 descr=" 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 sz="36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94375" y="2803075"/>
            <a:ext cx="36168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" name="Google Shape;50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640" y="4784707"/>
            <a:ext cx="1821726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ith folio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865" y="4824425"/>
            <a:ext cx="1821726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Frank Ruhl Libre"/>
              <a:buNone/>
              <a:defRPr sz="3600" b="1">
                <a:solidFill>
                  <a:srgbClr val="57068C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5" r:id="rId5"/>
    <p:sldLayoutId id="2147483662" r:id="rId6"/>
    <p:sldLayoutId id="2147483663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6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1"/>
                </a:solidFill>
                <a:latin typeface="Arial"/>
              </a:defRPr>
            </a:pPr>
            <a:r>
              <a:t>1. Alternative Data Update: Narrower, Cleaner, More Honest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64608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VIP Forecasting Project | Kenji Funaki | May 2026 | 1/5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777240"/>
            <a:ext cx="2377440" cy="320040"/>
          </a:xfrm>
          <a:prstGeom prst="roundRect">
            <a:avLst/>
          </a:prstGeom>
          <a:solidFill>
            <a:srgbClr val="B24C4C"/>
          </a:solidFill>
          <a:ln>
            <a:solidFill>
              <a:srgbClr val="B2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April issue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777240"/>
            <a:ext cx="2377440" cy="320040"/>
          </a:xfrm>
          <a:prstGeom prst="roundRect">
            <a:avLst/>
          </a:prstGeom>
          <a:solidFill>
            <a:srgbClr val="366091"/>
          </a:solidFill>
          <a:ln>
            <a:solidFill>
              <a:srgbClr val="36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May update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777240"/>
            <a:ext cx="2377440" cy="320040"/>
          </a:xfrm>
          <a:prstGeom prst="roundRect">
            <a:avLst/>
          </a:prstGeom>
          <a:solidFill>
            <a:srgbClr val="5B9B68"/>
          </a:solidFill>
          <a:ln>
            <a:solidFill>
              <a:srgbClr val="5B9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2423160" cy="1572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Broad alternative-data list was too noisy for daily direction.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Validation looked weak and hard to explain.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Pipeline was still being tuned, so claims were not stable.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207008"/>
            <a:ext cx="2468880" cy="1572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Focused on economically motivated daily returns: corn, soy, UUP, CAD.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Combined 7 wheat features + 4 cross-asset returns.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Used train-fold-only scaling and PCA(5), then TCN.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207008"/>
            <a:ext cx="2468880" cy="1572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Small improvement over the TCN reference, but not a strong signal.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Larger cross-asset + macro PCA panel underperformed on this tail.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The update is better framed as an ablation, not a victory lap.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273552"/>
            <a:ext cx="7955279" cy="594360"/>
          </a:xfrm>
          <a:prstGeom prst="roundRect">
            <a:avLst/>
          </a:prstGeom>
          <a:solidFill>
            <a:srgbClr val="E1EBF7"/>
          </a:solidFill>
          <a:ln>
            <a:solidFill>
              <a:srgbClr val="36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>
            <a:normAutofit/>
          </a:bodyPr>
          <a:lstStyle/>
          <a:p>
            <a:pPr algn="ctr">
              <a:defRPr sz="1200">
                <a:solidFill>
                  <a:srgbClr val="2D2D2D"/>
                </a:solidFill>
                <a:latin typeface="Arial"/>
              </a:defRPr>
            </a:pPr>
            <a:r>
              <a:t>Core change: move from 'many possible alternative data sources' to a leakage-safe comparison of two PCA-augmented TCN tracks.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87368"/>
            <a:ext cx="7498079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366091"/>
                </a:solidFill>
                <a:latin typeface="Arial"/>
              </a:defRPr>
            </a:pPr>
            <a:r>
              <a:t>Wheat features + selected cross-asset returns -&gt; fold-safe PCA -&gt; TCN probabilities -&gt; holdout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6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1"/>
                </a:solidFill>
                <a:latin typeface="Arial"/>
              </a:defRPr>
            </a:pPr>
            <a:r>
              <a:t>2. Table III: PCA-Augmented TCN on Terminal Holdout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64608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VIP Forecasting Project | Kenji Funaki | May 2026 | 2/5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941832"/>
          <a:ext cx="80924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960120"/>
                <a:gridCol w="1005840"/>
                <a:gridCol w="96012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Pipeline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Acc.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ROC-AUC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F1_M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TCN_Revised reference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0.541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0.526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0.541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TCN_PCA_WHEAT_ONLY: 7 wheat + corn/soy/UUP/CAD returns, PCA(5)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0.543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0.508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TCN_PCA: Yahoo overlay + FRED-MD + 4 returns -&gt; macro PCA(5)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0.482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0.501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0.463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2743200"/>
            <a:ext cx="3886200" cy="960120"/>
          </a:xfrm>
          <a:prstGeom prst="roundRect">
            <a:avLst/>
          </a:prstGeom>
          <a:solidFill>
            <a:srgbClr val="E1EBF7"/>
          </a:solidFill>
          <a:ln>
            <a:solidFill>
              <a:srgbClr val="36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>
            <a:normAutofit/>
          </a:bodyPr>
          <a:lstStyle/>
          <a:p>
            <a:pPr algn="ctr">
              <a:defRPr sz="1100">
                <a:solidFill>
                  <a:srgbClr val="2D2D2D"/>
                </a:solidFill>
                <a:latin typeface="Arial"/>
              </a:defRPr>
            </a:pPr>
            <a:r>
              <a:t>Key read: the narrower wheat-centered PCA track reached 54.3% accuracy, barely above the reference TCN. The broader cross-asset + macro PCA track fell below 50%.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2743200"/>
            <a:ext cx="3886200" cy="960120"/>
          </a:xfrm>
          <a:prstGeom prst="roundRect">
            <a:avLst/>
          </a:prstGeom>
          <a:solidFill>
            <a:srgbClr val="F2F2F2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>
            <a:normAutofit/>
          </a:bodyPr>
          <a:lstStyle/>
          <a:p>
            <a:pPr algn="ctr">
              <a:defRPr sz="1100">
                <a:solidFill>
                  <a:srgbClr val="2D2D2D"/>
                </a:solidFill>
                <a:latin typeface="Arial"/>
              </a:defRPr>
            </a:pPr>
            <a:r>
              <a:t>Why it matters: alternative data helped only when it was selective and leakage-safe. More data did not automatically mean a better signal.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69080"/>
            <a:ext cx="80010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96969"/>
                </a:solidFill>
                <a:latin typeface="Arial"/>
              </a:defRPr>
            </a:pPr>
            <a:r>
              <a:t>Replay: Adam LR=1e-6, 50 epochs, channels {128,64}, Apple MPS; terminal 15% chronological holdout; threshold 0.5 for Acc.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6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1"/>
                </a:solidFill>
                <a:latin typeface="Arial"/>
              </a:defRPr>
            </a:pPr>
            <a:r>
              <a:t>3. Why MCMC? Strategy Needs Probabilities and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64608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VIP Forecasting Project | Kenji Funaki | May 2026 | 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388620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  <a:latin typeface="Arial"/>
              </a:defRPr>
            </a:pPr>
            <a:r>
              <a:t>Investment overlay consumes P(up), not just a hard up/down label.</a:t>
            </a:r>
          </a:p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  <a:latin typeface="Arial"/>
              </a:defRPr>
            </a:pPr>
            <a:r>
              <a:t>A TCN can rank days, but a single probability does not show uncertainty.</a:t>
            </a:r>
          </a:p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  <a:latin typeface="Arial"/>
              </a:defRPr>
            </a:pPr>
            <a:r>
              <a:t>Bayesian logistic MCMC gives posterior-mean probabilities and dispersion.</a:t>
            </a:r>
          </a:p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  <a:latin typeface="Arial"/>
              </a:defRPr>
            </a:pPr>
            <a:r>
              <a:t>This supplements the strategy layer; it is not the champion forecaster.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852928"/>
          <a:ext cx="3383280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820"/>
                <a:gridCol w="845820"/>
                <a:gridCol w="845820"/>
                <a:gridCol w="845820"/>
              </a:tblGrid>
              <a:tr h="280416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Acc.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AUC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Brier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MLE logit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0.500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0.509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0.255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Bayes mean 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0.508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0.249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3950208"/>
            <a:ext cx="3520440" cy="548640"/>
          </a:xfrm>
          <a:prstGeom prst="roundRect">
            <a:avLst/>
          </a:prstGeom>
          <a:solidFill>
            <a:srgbClr val="E1EBF7"/>
          </a:solidFill>
          <a:ln>
            <a:solidFill>
              <a:srgbClr val="36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>
            <a:normAutofit/>
          </a:bodyPr>
          <a:lstStyle/>
          <a:p>
            <a:pPr algn="ctr">
              <a:defRPr sz="1000">
                <a:solidFill>
                  <a:srgbClr val="2D2D2D"/>
                </a:solidFill>
                <a:latin typeface="Arial"/>
              </a:defRPr>
            </a:pPr>
            <a:r>
              <a:t>MCMC role: expose calibration and uncertainty for threshold-aware long-flat rules.</a:t>
            </a:r>
          </a:p>
        </p:txBody>
      </p:sp>
      <p:pic>
        <p:nvPicPr>
          <p:cNvPr id="8" name="Picture 7" descr="bayes_mcmc_roc_hold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841248"/>
            <a:ext cx="1920240" cy="1920240"/>
          </a:xfrm>
          <a:prstGeom prst="rect">
            <a:avLst/>
          </a:prstGeom>
        </p:spPr>
      </p:pic>
      <p:pic>
        <p:nvPicPr>
          <p:cNvPr id="9" name="Picture 8" descr="bayes_mcmc_calibration_hold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841248"/>
            <a:ext cx="1920240" cy="1920240"/>
          </a:xfrm>
          <a:prstGeom prst="rect">
            <a:avLst/>
          </a:prstGeom>
        </p:spPr>
      </p:pic>
      <p:pic>
        <p:nvPicPr>
          <p:cNvPr id="10" name="Picture 9" descr="bayes_mcmc_predictive_uncertainty_hold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26080"/>
            <a:ext cx="3246120" cy="2164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7720" y="4407408"/>
            <a:ext cx="40690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696969"/>
                </a:solidFill>
                <a:latin typeface="Arial"/>
              </a:defRPr>
            </a:pPr>
            <a:r>
              <a:t>Default design: same wheat + cross-asset PCA inputs as TCN_PCA_WHEAT_ONLY, flattened into a linear Bayesian logit.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6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1"/>
                </a:solidFill>
                <a:latin typeface="Arial"/>
              </a:defRPr>
            </a:pPr>
            <a:r>
              <a:t>4. Investment Strategy: Tactical Long-Flat Holdout Proxy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64608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VIP Forecasting Project | Kenji Funaki | May 2026 | 4/5</a:t>
            </a:r>
          </a:p>
        </p:txBody>
      </p:sp>
      <p:pic>
        <p:nvPicPr>
          <p:cNvPr id="5" name="Picture 4" descr="pipeline_tcn_pca_mcmc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86384"/>
            <a:ext cx="2788920" cy="34119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0" y="822960"/>
            <a:ext cx="54406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Retrain TCN_PCA_WHEAT_ONLY on train+validation only.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Score the terminal 15% holdout with predicted P(up).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Go long only when P(up) clears a hurdle; otherwise stay flat.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Proxy only: no commissions, rolls, margin, options, slippage, or live order timing.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0" y="2487168"/>
          <a:ext cx="54406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780"/>
                <a:gridCol w="906780"/>
                <a:gridCol w="906780"/>
                <a:gridCol w="906780"/>
                <a:gridCol w="906780"/>
                <a:gridCol w="906780"/>
              </a:tblGrid>
              <a:tr h="231648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Rule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Tot. ret.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Vol.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Sharpe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Max DD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% long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</a:tr>
              <a:tr h="231648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Buy-and-hold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-0.468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0.319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-0.36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-0.613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</a:tr>
              <a:tr h="231648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P &gt;= 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1648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P &gt;= 0.50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0.009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0.005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0.51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0.001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</a:tr>
              <a:tr h="231648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P &gt;= tau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-0.400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1648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Momentum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-0.155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0.211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-0.11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-0.399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0.46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246120" y="4096512"/>
            <a:ext cx="5349240" cy="566928"/>
          </a:xfrm>
          <a:prstGeom prst="roundRect">
            <a:avLst/>
          </a:prstGeom>
          <a:solidFill>
            <a:srgbClr val="E1EBF7"/>
          </a:solidFill>
          <a:ln>
            <a:solidFill>
              <a:srgbClr val="36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>
            <a:normAutofit/>
          </a:bodyPr>
          <a:lstStyle/>
          <a:p>
            <a:pPr algn="ctr">
              <a:defRPr sz="900">
                <a:solidFill>
                  <a:srgbClr val="2D2D2D"/>
                </a:solidFill>
                <a:latin typeface="Arial"/>
              </a:defRPr>
            </a:pPr>
            <a:r>
              <a:t>Interpretation: on one bearish holdout tail, sitting out part of the decline reduced drawdown versus full exposure. This is risk management evidence, not proof of alpha.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6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1"/>
                </a:solidFill>
                <a:latin typeface="Arial"/>
              </a:defRPr>
            </a:pPr>
            <a:r>
              <a:t>5. Conclusion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64608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VIP Forecasting Project | Kenji Funaki | May 2026 | 5/5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41248"/>
            <a:ext cx="1965960" cy="320040"/>
          </a:xfrm>
          <a:prstGeom prst="roundRect">
            <a:avLst/>
          </a:prstGeom>
          <a:solidFill>
            <a:srgbClr val="366091"/>
          </a:solidFill>
          <a:ln>
            <a:solidFill>
              <a:srgbClr val="36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What I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80160"/>
            <a:ext cx="3749039" cy="1481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Daily wheat direction is a weak-signal problem.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Chronological discipline matters more than model complexity.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Alternative data must be selective, causal, and tested as ablations.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AI/ML helped organize experiments, but did not remove market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841248"/>
            <a:ext cx="1965960" cy="320040"/>
          </a:xfrm>
          <a:prstGeom prst="roundRect">
            <a:avLst/>
          </a:prstGeom>
          <a:solidFill>
            <a:srgbClr val="5B9B68"/>
          </a:solidFill>
          <a:ln>
            <a:solidFill>
              <a:srgbClr val="5B9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Final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280160"/>
            <a:ext cx="3840480" cy="1481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TCN and PCA-augmented TCN showed the best descriptive holdout results.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Model differences should not be read as statistically significant superiority.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Probability use, calibration, and when to stay flat may matter as much as accuracy.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063240"/>
            <a:ext cx="2697480" cy="320040"/>
          </a:xfrm>
          <a:prstGeom prst="roundRect">
            <a:avLst/>
          </a:prstGeom>
          <a:solidFill>
            <a:srgbClr val="366091"/>
          </a:solidFill>
          <a:ln>
            <a:solidFill>
              <a:srgbClr val="36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If more time were allowed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493008"/>
            <a:ext cx="790956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Run expanding-window walk-forward tests with nested tuning.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Add FRED-vintage sensitivity and alternate calendar cutoffs.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Model commissions, rolls, contract multipliers, margin, and liquidity.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Compare TCN with/without macro PCA on identical splits.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Use Bayesian uncertainty for calibration-aware thresholds, not overfitting.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YU Elegant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3DFE9"/>
      </a:lt2>
      <a:accent1>
        <a:srgbClr val="9A6ABA"/>
      </a:accent1>
      <a:accent2>
        <a:srgbClr val="6D6D6D"/>
      </a:accent2>
      <a:accent3>
        <a:srgbClr val="007E8A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2364</TotalTime>
  <Words>855</Words>
  <Application>Microsoft Macintosh PowerPoint</Application>
  <PresentationFormat>On-screen Show (16:9)</PresentationFormat>
  <Paragraphs>135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Montserrat</vt:lpstr>
      <vt:lpstr>Montserrat SemiBold</vt:lpstr>
      <vt:lpstr>Cambria</vt:lpstr>
      <vt:lpstr>Frank Ruhl Libre</vt:lpstr>
      <vt:lpstr>Arial</vt:lpstr>
      <vt:lpstr>NYU Elegant</vt:lpstr>
      <vt:lpstr>VIP –ML for Agricultural Commodity Market</vt:lpstr>
      <vt:lpstr>Model1 Factor-Augmented Vector Autoregression (FAVAR)</vt:lpstr>
      <vt:lpstr>Temporal Convolutional Network (TCN)</vt:lpstr>
      <vt:lpstr>Summary : Direction Model Comparisons </vt:lpstr>
      <vt:lpstr>Alternative Data for Wheat Futures Prediction (TCN Model)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Funaki Kenji-NYK</cp:lastModifiedBy>
  <cp:revision>17</cp:revision>
  <dcterms:modified xsi:type="dcterms:W3CDTF">2026-04-01T03:51:50Z</dcterms:modified>
</cp:coreProperties>
</file>