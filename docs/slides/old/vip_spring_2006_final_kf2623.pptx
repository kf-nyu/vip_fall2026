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0"/>
  </p:notesMasterIdLst>
  <p:sldIdLst>
    <p:sldId id="261" r:id="rId2"/>
    <p:sldId id="281" r:id="rId3"/>
    <p:sldId id="256" r:id="rId4"/>
    <p:sldId id="258" r:id="rId5"/>
    <p:sldId id="259" r:id="rId6"/>
    <p:sldId id="260" r:id="rId7"/>
    <p:sldId id="282" r:id="rId8"/>
    <p:sldId id="262" r:id="rId9"/>
  </p:sldIdLst>
  <p:sldSz cx="9144000" cy="5143500" type="screen16x9"/>
  <p:notesSz cx="6858000" cy="9144000"/>
  <p:embeddedFontLst>
    <p:embeddedFont>
      <p:font typeface="Frank Ruhl Libre" pitchFamily="2" charset="-79"/>
      <p:regular r:id="rId11"/>
      <p:bold r:id="rId12"/>
    </p:embeddedFont>
    <p:embeddedFont>
      <p:font typeface="Montserrat" pitchFamily="2" charset="77"/>
      <p:regular r:id="rId13"/>
      <p:bold r:id="rId14"/>
      <p:italic r:id="rId15"/>
      <p:boldItalic r:id="rId16"/>
    </p:embeddedFont>
    <p:embeddedFont>
      <p:font typeface="Montserrat SemiBold" panose="00000700000000000000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5"/>
    <p:restoredTop sz="94468"/>
  </p:normalViewPr>
  <p:slideViewPr>
    <p:cSldViewPr snapToGrid="0">
      <p:cViewPr varScale="1">
        <p:scale>
          <a:sx n="220" d="100"/>
          <a:sy n="220" d="100"/>
        </p:scale>
        <p:origin x="192" y="8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3FE7170-9F72-7927-4976-9C1748CE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06743487f_0_7:notes">
            <a:extLst>
              <a:ext uri="{FF2B5EF4-FFF2-40B4-BE49-F238E27FC236}">
                <a16:creationId xmlns:a16="http://schemas.microsoft.com/office/drawing/2014/main" id="{F154C174-9377-ABEA-3396-7F7D5402D1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06743487f_0_7:notes">
            <a:extLst>
              <a:ext uri="{FF2B5EF4-FFF2-40B4-BE49-F238E27FC236}">
                <a16:creationId xmlns:a16="http://schemas.microsoft.com/office/drawing/2014/main" id="{B0A97D6A-1CCE-B576-F6F0-5BE874002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818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0674348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0674348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220337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7490" b="7490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496200" y="3103614"/>
            <a:ext cx="4151400" cy="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2496200" y="4155404"/>
            <a:ext cx="4151400" cy="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0550" y="480150"/>
            <a:ext cx="2462890" cy="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9792" y="4774257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16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41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640" y="4784707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865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sz="3600" b="1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62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kf2623@nyu.e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kenji-funaki-aa13361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245556" y="1414761"/>
            <a:ext cx="8440711" cy="422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Montserrat" pitchFamily="2" charset="77"/>
              </a:rPr>
              <a:t>VIP –ML for Agricultural Commodity Market</a:t>
            </a:r>
            <a:endParaRPr sz="2800" dirty="0"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1"/>
          </p:nvPr>
        </p:nvSpPr>
        <p:spPr>
          <a:xfrm>
            <a:off x="457733" y="856444"/>
            <a:ext cx="8325515" cy="1905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Final Presentation</a:t>
            </a:r>
          </a:p>
          <a:p>
            <a:pPr marL="0" lvl="0" indent="0">
              <a:spcAft>
                <a:spcPts val="1600"/>
              </a:spcAft>
            </a:pPr>
            <a:endParaRPr lang="en-US" dirty="0"/>
          </a:p>
          <a:p>
            <a:pPr marL="0" lvl="0" indent="0">
              <a:spcAft>
                <a:spcPts val="1600"/>
              </a:spcAft>
            </a:pPr>
            <a:endParaRPr lang="en-US" b="1" dirty="0"/>
          </a:p>
          <a:p>
            <a:pPr marL="0" lvl="0" indent="0">
              <a:spcAft>
                <a:spcPts val="1600"/>
              </a:spcAft>
            </a:pPr>
            <a:endParaRPr lang="en-US" b="1" dirty="0"/>
          </a:p>
          <a:p>
            <a:pPr marL="0" lvl="0" indent="0">
              <a:spcAft>
                <a:spcPts val="1600"/>
              </a:spcAft>
            </a:pPr>
            <a:r>
              <a:rPr lang="en-US" b="1" dirty="0"/>
              <a:t>Final Alternative Data and</a:t>
            </a:r>
          </a:p>
          <a:p>
            <a:pPr marL="0" lvl="0" indent="0">
              <a:spcAft>
                <a:spcPts val="1600"/>
              </a:spcAft>
            </a:pPr>
            <a:r>
              <a:rPr lang="en-US" b="1" dirty="0"/>
              <a:t>Preliminary Investment Strategy</a:t>
            </a:r>
            <a:endParaRPr b="1" dirty="0"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2"/>
          </p:nvPr>
        </p:nvSpPr>
        <p:spPr>
          <a:xfrm>
            <a:off x="3831220" y="1625936"/>
            <a:ext cx="4016416" cy="2278675"/>
          </a:xfrm>
          <a:prstGeom prst="rect">
            <a:avLst/>
          </a:prstGeom>
          <a:ln w="19050">
            <a:noFill/>
          </a:ln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 marL="0" indent="0">
              <a:buNone/>
            </a:pPr>
            <a:br>
              <a:rPr lang="en-US" sz="1200" dirty="0">
                <a:solidFill>
                  <a:schemeClr val="tx1">
                    <a:lumMod val="20000"/>
                    <a:lumOff val="80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TCN</a:t>
            </a:r>
            <a:br>
              <a:rPr lang="en-US" sz="1400" dirty="0">
                <a:solidFill>
                  <a:schemeClr val="tx1">
                    <a:lumMod val="20000"/>
                    <a:lumOff val="80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Temporal Convolutional Network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7F554A-0427-0248-AB4D-E1A4C1C65607}"/>
              </a:ext>
            </a:extLst>
          </p:cNvPr>
          <p:cNvSpPr txBox="1"/>
          <p:nvPr/>
        </p:nvSpPr>
        <p:spPr>
          <a:xfrm>
            <a:off x="2680999" y="4115786"/>
            <a:ext cx="38789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Presenter : Kenji Funaki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May 12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 , 2026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2E9E44D-D1D6-B9DB-BE93-FCE17140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F74023-907C-6396-AD1C-57864DC9111F}"/>
              </a:ext>
            </a:extLst>
          </p:cNvPr>
          <p:cNvSpPr/>
          <p:nvPr/>
        </p:nvSpPr>
        <p:spPr>
          <a:xfrm>
            <a:off x="1857737" y="4062714"/>
            <a:ext cx="2714263" cy="2915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9EB8F9C1-26AA-A298-9A3D-8A1041FCA7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01139"/>
            <a:ext cx="8470603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Alternative Data for Wheat Futures  (TCN Model) :Recap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B68EA-255A-0E99-5BB0-522968588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890" y="652904"/>
            <a:ext cx="7033730" cy="657900"/>
          </a:xfrm>
        </p:spPr>
        <p:txBody>
          <a:bodyPr/>
          <a:lstStyle/>
          <a:p>
            <a:r>
              <a:rPr lang="en-US" sz="1100" dirty="0"/>
              <a:t>Enhance directional prediction of wheat futures by incorporating </a:t>
            </a:r>
            <a:r>
              <a:rPr lang="en-US" sz="1100" b="1" dirty="0"/>
              <a:t>cross-asset and macro alternative data</a:t>
            </a:r>
            <a:r>
              <a:rPr lang="en-US" sz="1100" dirty="0"/>
              <a:t> that capture global economic conditions, risk sentiment, and supply-demand dynamics.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88F7E1-F40E-4EE9-50F4-990D3FEE2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83" y="-72152"/>
            <a:ext cx="1124026" cy="784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300" b="1" dirty="0">
                <a:solidFill>
                  <a:srgbClr val="36609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Objective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B76087A-CDA6-0BD7-B40B-280705A7B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83" y="789257"/>
            <a:ext cx="3121367" cy="784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304704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b="1" dirty="0">
                <a:solidFill>
                  <a:srgbClr val="36609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2. Selected Alternative Data Features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1C741C-1E50-E724-E2A8-568D3F1BFCC3}"/>
              </a:ext>
            </a:extLst>
          </p:cNvPr>
          <p:cNvSpPr txBox="1">
            <a:spLocks/>
          </p:cNvSpPr>
          <p:nvPr/>
        </p:nvSpPr>
        <p:spPr>
          <a:xfrm>
            <a:off x="213458" y="3594461"/>
            <a:ext cx="8930543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100" dirty="0"/>
              <a:t>DXY: Dollar Index, VIX: Volatility Index, oil, gold and soy.</a:t>
            </a:r>
          </a:p>
          <a:p>
            <a:pPr marL="11430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Still Tuning the model  and methodology </a:t>
            </a:r>
          </a:p>
          <a:p>
            <a:r>
              <a:rPr lang="en-US" sz="900" dirty="0"/>
              <a:t>Validation metrics: </a:t>
            </a:r>
            <a:r>
              <a:rPr lang="en-US" sz="900" b="1" dirty="0">
                <a:solidFill>
                  <a:srgbClr val="C00000"/>
                </a:solidFill>
              </a:rPr>
              <a:t>acc=0.5174 f1_macro=0.5168 </a:t>
            </a:r>
            <a:r>
              <a:rPr lang="en-US" sz="900" b="1" dirty="0" err="1">
                <a:solidFill>
                  <a:srgbClr val="C00000"/>
                </a:solidFill>
              </a:rPr>
              <a:t>roc_auc</a:t>
            </a:r>
            <a:r>
              <a:rPr lang="en-US" sz="900" b="1" dirty="0">
                <a:solidFill>
                  <a:srgbClr val="C00000"/>
                </a:solidFill>
              </a:rPr>
              <a:t>=0.5246</a:t>
            </a:r>
          </a:p>
          <a:p>
            <a:r>
              <a:rPr lang="en-US" sz="900" dirty="0"/>
              <a:t>Validation predictions shape: (1034,)</a:t>
            </a:r>
          </a:p>
          <a:p>
            <a:r>
              <a:rPr lang="en-US" sz="900" dirty="0"/>
              <a:t>Baselines: majority acc=0.5358, f1=0.3489, </a:t>
            </a:r>
            <a:r>
              <a:rPr lang="en-US" sz="900" dirty="0" err="1"/>
              <a:t>auc</a:t>
            </a:r>
            <a:r>
              <a:rPr lang="en-US" sz="900" dirty="0"/>
              <a:t>=0.5000 | momentum acc=0.5019, f1=0.4993, </a:t>
            </a:r>
            <a:r>
              <a:rPr lang="en-US" sz="900" dirty="0" err="1"/>
              <a:t>auc</a:t>
            </a:r>
            <a:r>
              <a:rPr lang="en-US" sz="900" dirty="0"/>
              <a:t>=0.4993</a:t>
            </a:r>
          </a:p>
          <a:p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4961B23-79C5-ED89-1836-34CFCD4FE08B}"/>
              </a:ext>
            </a:extLst>
          </p:cNvPr>
          <p:cNvSpPr txBox="1">
            <a:spLocks/>
          </p:cNvSpPr>
          <p:nvPr/>
        </p:nvSpPr>
        <p:spPr>
          <a:xfrm>
            <a:off x="213458" y="1497314"/>
            <a:ext cx="7283978" cy="88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100" dirty="0"/>
              <a:t>We have struggle to find one good datasets and explores some alternative way with the best model, TCN.  </a:t>
            </a:r>
          </a:p>
          <a:p>
            <a:r>
              <a:rPr lang="en-US" sz="1100" dirty="0"/>
              <a:t>We enhance wheat prediction by integrating cross-asset signals (oil, FX, volatility, crops) and compressing macro data into latent factors, enabling TCN to learn nonlinear market regimes.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A0835F-6A63-A5F0-8619-D509B6142164}"/>
              </a:ext>
            </a:extLst>
          </p:cNvPr>
          <p:cNvGraphicFramePr>
            <a:graphicFrameLocks noGrp="1"/>
          </p:cNvGraphicFramePr>
          <p:nvPr/>
        </p:nvGraphicFramePr>
        <p:xfrm>
          <a:off x="1453723" y="2631915"/>
          <a:ext cx="4860314" cy="1036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12551">
                  <a:extLst>
                    <a:ext uri="{9D8B030D-6E8A-4147-A177-3AD203B41FA5}">
                      <a16:colId xmlns:a16="http://schemas.microsoft.com/office/drawing/2014/main" val="1964256089"/>
                    </a:ext>
                  </a:extLst>
                </a:gridCol>
                <a:gridCol w="3347763">
                  <a:extLst>
                    <a:ext uri="{9D8B030D-6E8A-4147-A177-3AD203B41FA5}">
                      <a16:colId xmlns:a16="http://schemas.microsoft.com/office/drawing/2014/main" val="278393687"/>
                    </a:ext>
                  </a:extLst>
                </a:gridCol>
              </a:tblGrid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latin typeface="Montserrat" pitchFamily="2" charset="77"/>
                        </a:rPr>
                        <a:t>Category</a:t>
                      </a:r>
                      <a:endParaRPr lang="en-US" sz="1100">
                        <a:latin typeface="Montserra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latin typeface="Montserrat" pitchFamily="2" charset="77"/>
                        </a:rPr>
                        <a:t>Features</a:t>
                      </a:r>
                      <a:endParaRPr lang="en-US" sz="1100">
                        <a:latin typeface="Montserrat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373573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Montserrat" pitchFamily="2" charset="77"/>
                        </a:rPr>
                        <a:t>Price signals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Montserrat" pitchFamily="2" charset="77"/>
                        </a:rPr>
                        <a:t>returns, volatility, momentum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495511"/>
                  </a:ext>
                </a:extLst>
              </a:tr>
              <a:tr h="2113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Montserrat" pitchFamily="2" charset="77"/>
                        </a:rPr>
                        <a:t>Alt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Montserrat" pitchFamily="2" charset="77"/>
                        </a:rPr>
                        <a:t>oil, gold, DXY, soy, VIX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316503"/>
                  </a:ext>
                </a:extLst>
              </a:tr>
              <a:tr h="2181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Montserrat" pitchFamily="2" charset="77"/>
                        </a:rPr>
                        <a:t>Macro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Montserrat" pitchFamily="2" charset="77"/>
                        </a:rPr>
                        <a:t>PCA factors (5)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719172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849A3EF3-E7CA-6E48-EFC5-5610F3A8C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497" y="1862569"/>
            <a:ext cx="6832036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Macro Compression (FAVAR Approach)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31 macro variables → 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PCA (5 factors)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812E1E-32FB-C68D-B0B8-605F15D1E78F}"/>
              </a:ext>
            </a:extLst>
          </p:cNvPr>
          <p:cNvSpPr txBox="1"/>
          <p:nvPr/>
        </p:nvSpPr>
        <p:spPr>
          <a:xfrm>
            <a:off x="7274187" y="638382"/>
            <a:ext cx="194633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RAW DATA</a:t>
            </a:r>
          </a:p>
          <a:p>
            <a:r>
              <a:rPr lang="en-US" sz="700" dirty="0"/>
              <a:t> ├── Wheat Futures (price)</a:t>
            </a:r>
          </a:p>
          <a:p>
            <a:r>
              <a:rPr lang="en-US" sz="700" dirty="0"/>
              <a:t> ├── Alt Data (oil, gold, DXY, soy, VIX)</a:t>
            </a:r>
          </a:p>
          <a:p>
            <a:r>
              <a:rPr lang="en-US" sz="700" dirty="0"/>
              <a:t> └── Macro (31 FRED variables)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[1] FEATURE ENGINEERING</a:t>
            </a:r>
          </a:p>
          <a:p>
            <a:r>
              <a:rPr lang="en-US" sz="700" dirty="0"/>
              <a:t> ├── Returns (1d, 3d, 5d)</a:t>
            </a:r>
          </a:p>
          <a:p>
            <a:r>
              <a:rPr lang="en-US" sz="700" dirty="0"/>
              <a:t> ├── Volatility (rolling std)</a:t>
            </a:r>
          </a:p>
          <a:p>
            <a:r>
              <a:rPr lang="en-US" sz="700" dirty="0"/>
              <a:t> ├── Momentum</a:t>
            </a:r>
          </a:p>
          <a:p>
            <a:r>
              <a:rPr lang="en-US" sz="700" dirty="0"/>
              <a:t> └── Alt-data returns + vol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[2] MACRO COMPRESSION (PCA)</a:t>
            </a:r>
          </a:p>
          <a:p>
            <a:r>
              <a:rPr lang="en-US" sz="700" dirty="0"/>
              <a:t> ├── Scale macro variables</a:t>
            </a:r>
          </a:p>
          <a:p>
            <a:r>
              <a:rPr lang="en-US" sz="700" dirty="0"/>
              <a:t> ├── Apply PCA → 5 factors</a:t>
            </a:r>
          </a:p>
          <a:p>
            <a:r>
              <a:rPr lang="en-US" sz="700" dirty="0"/>
              <a:t> └── Remove noise / redundancy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[3] FEATURE CONCATENATION</a:t>
            </a:r>
          </a:p>
          <a:p>
            <a:r>
              <a:rPr lang="en-US" sz="700" dirty="0"/>
              <a:t> ├── Price features</a:t>
            </a:r>
          </a:p>
          <a:p>
            <a:r>
              <a:rPr lang="en-US" sz="700" dirty="0"/>
              <a:t> ├── Alt features</a:t>
            </a:r>
          </a:p>
          <a:p>
            <a:r>
              <a:rPr lang="en-US" sz="700" dirty="0"/>
              <a:t> └── PCA factors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[4] SLIDING WINDOW</a:t>
            </a:r>
          </a:p>
          <a:p>
            <a:r>
              <a:rPr lang="en-US" sz="700" dirty="0"/>
              <a:t> ├── Lookback = 30 days</a:t>
            </a:r>
          </a:p>
          <a:p>
            <a:r>
              <a:rPr lang="en-US" sz="700" dirty="0"/>
              <a:t> └── Shape → (Samples, Time, Features)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[5] TCN MODEL</a:t>
            </a:r>
          </a:p>
          <a:p>
            <a:r>
              <a:rPr lang="en-US" sz="700" dirty="0"/>
              <a:t> ├── Causal 1D Convolution</a:t>
            </a:r>
          </a:p>
          <a:p>
            <a:r>
              <a:rPr lang="en-US" sz="700" dirty="0"/>
              <a:t> ├── Dilations (1, 2, 4, 8…)</a:t>
            </a:r>
          </a:p>
          <a:p>
            <a:r>
              <a:rPr lang="en-US" sz="700" dirty="0"/>
              <a:t> ├── Temporal feature extraction</a:t>
            </a:r>
          </a:p>
          <a:p>
            <a:r>
              <a:rPr lang="en-US" sz="700" dirty="0"/>
              <a:t>        │</a:t>
            </a:r>
          </a:p>
          <a:p>
            <a:r>
              <a:rPr lang="en-US" sz="700" dirty="0"/>
              <a:t>        ▼</a:t>
            </a:r>
          </a:p>
          <a:p>
            <a:r>
              <a:rPr lang="en-US" sz="700" dirty="0"/>
              <a:t>[6] CLASSIFIER</a:t>
            </a:r>
          </a:p>
          <a:p>
            <a:r>
              <a:rPr lang="en-US" sz="700" dirty="0"/>
              <a:t> └── Output → Up / Down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A14D0-82C3-1DCF-5B8E-2630BED801D2}"/>
              </a:ext>
            </a:extLst>
          </p:cNvPr>
          <p:cNvSpPr txBox="1"/>
          <p:nvPr/>
        </p:nvSpPr>
        <p:spPr>
          <a:xfrm>
            <a:off x="1787363" y="450703"/>
            <a:ext cx="5311303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1600" b="1" dirty="0">
                <a:ln/>
                <a:solidFill>
                  <a:srgbClr val="FF0000"/>
                </a:solidFill>
                <a:latin typeface="Montserrat" pitchFamily="2" charset="77"/>
              </a:rPr>
              <a:t>Could Not Beat the Baseline TCN Model Result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AB617D-4CE4-0799-EF8F-C077C23C2795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571976" y="789257"/>
            <a:ext cx="871039" cy="327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6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158" y="141732"/>
            <a:ext cx="815960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1. Alternative Data Update: Narrower, Cleaner, More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1/5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474" y="597997"/>
            <a:ext cx="2377440" cy="3200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B2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April </a:t>
            </a:r>
            <a:r>
              <a:rPr lang="en-US" dirty="0"/>
              <a:t>I</a:t>
            </a:r>
            <a:r>
              <a:rPr dirty="0"/>
              <a:t>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6981" y="609021"/>
            <a:ext cx="2377440" cy="320040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May </a:t>
            </a:r>
            <a:r>
              <a:rPr lang="en-US" dirty="0"/>
              <a:t>U</a:t>
            </a:r>
            <a:r>
              <a:rPr dirty="0"/>
              <a:t>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592151"/>
            <a:ext cx="2377440" cy="320040"/>
          </a:xfrm>
          <a:prstGeom prst="roundRect">
            <a:avLst/>
          </a:prstGeom>
          <a:solidFill>
            <a:schemeClr val="accent1"/>
          </a:solidFill>
          <a:ln>
            <a:solidFill>
              <a:srgbClr val="5B9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496" y="1025760"/>
            <a:ext cx="2893669" cy="10436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Broad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lternative-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ata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ist was too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oisy for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aily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irection.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</a:rPr>
              <a:t>oil, gold, DXY, soy, VIX</a:t>
            </a:r>
            <a:endParaRPr b="1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Validation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ooked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eak 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ard to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xplain.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Pipeline was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till being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uned, so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laims were not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5717" y="980462"/>
            <a:ext cx="3368232" cy="1292313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Focused on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conomically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otivated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aily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eturns: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Positive Pearson Cor   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corn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(.5752)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, soy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(.3626) </a:t>
            </a:r>
          </a:p>
          <a:p>
            <a:pPr marL="171450" lvl="1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Negative Pearson Cor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UUP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(-.1174)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, CAD</a:t>
            </a:r>
            <a:r>
              <a:rPr lang="en-US" sz="10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(-.1144)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Combined 7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W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heat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eatures + 4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ross-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sset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eturns.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Used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rain-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old-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nly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caling and PCA(5), then TCN.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0331" y="1012580"/>
            <a:ext cx="2893669" cy="1106519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Small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mprovement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ver the TCN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Baseline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, but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ot a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trong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ignal.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Larger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ross-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sset +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acro PCA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anel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nderperformed on this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ail.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000">
                <a:solidFill>
                  <a:srgbClr val="2D2D2D"/>
                </a:solidFill>
                <a:latin typeface="Arial"/>
              </a:defRPr>
            </a:pP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pdate is better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ramed as an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blation,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ot a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ictory </a:t>
            </a:r>
            <a:r>
              <a:rPr lang="en-US" sz="1000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sz="1000" dirty="0">
                <a:solidFill>
                  <a:schemeClr val="accent1">
                    <a:lumMod val="75000"/>
                  </a:schemeClr>
                </a:solidFill>
              </a:rPr>
              <a:t>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35" y="2226822"/>
            <a:ext cx="7955279" cy="59436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rmAutofit/>
          </a:bodyPr>
          <a:lstStyle/>
          <a:p>
            <a:pPr algn="ctr">
              <a:defRPr sz="12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Core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hange: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ove from '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any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ossible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lternative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ata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ources' to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eakage-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afe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omparison of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wo PCA-augmented TCN tracks.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833" y="2859335"/>
            <a:ext cx="7498079" cy="292608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1300" b="1">
                <a:solidFill>
                  <a:srgbClr val="366091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Wheat features + selected cross-asset returns -&gt; fold-safe PCA -&gt; TCN probabilities -&gt; holdout evaluation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23F7B3-F9DE-A4AB-CA5B-90FEEE953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846490"/>
              </p:ext>
            </p:extLst>
          </p:nvPr>
        </p:nvGraphicFramePr>
        <p:xfrm>
          <a:off x="422474" y="3207799"/>
          <a:ext cx="8092440" cy="1216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212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Pipeline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Acc.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ROC-AUC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F1_M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212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TCN</a:t>
                      </a:r>
                      <a:r>
                        <a:rPr lang="en-US"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 Baseline</a:t>
                      </a:r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 </a:t>
                      </a:r>
                      <a:r>
                        <a:rPr lang="en-US"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R</a:t>
                      </a:r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eference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0.541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0.526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0.541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212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TCN_PCA_WHEAT_ONLY: 7 wheat + corn/soy/UUP/CAD returns, PCA(5)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2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TCN_PCA: Yahoo overlay + FRED-MD + 4 returns -&gt; macro PCA(5)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0.482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0.463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7C37E92-9C21-D3BA-A75B-0DE0D374A15B}"/>
              </a:ext>
            </a:extLst>
          </p:cNvPr>
          <p:cNvSpPr txBox="1"/>
          <p:nvPr/>
        </p:nvSpPr>
        <p:spPr>
          <a:xfrm>
            <a:off x="964751" y="4467486"/>
            <a:ext cx="80010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96969"/>
                </a:solidFill>
                <a:latin typeface="Arial"/>
              </a:defRPr>
            </a:pPr>
            <a:r>
              <a:rPr dirty="0"/>
              <a:t>Replay: Adam LR=1e-6, 50 epochs, channels {128,64}, Apple MPS; terminal 15% chronological holdout; threshold 0.5 for Acc.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31" y="114300"/>
            <a:ext cx="654538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. Strategy Needs Probabilities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17" y="806756"/>
            <a:ext cx="4543293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Investment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verlay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onsumes P(up),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ot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J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ust a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ard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p/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own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abel.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 TCN can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ank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ays, but a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ingle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robability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oes not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how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ncertainty.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Bayesian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ogistic MCM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C(Markov Chain Monte Carlo)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gives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osterior-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ean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robabilities and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ispersion.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This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upplements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trategy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ayer;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ot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hampion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orecaster.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732991"/>
              </p:ext>
            </p:extLst>
          </p:nvPr>
        </p:nvGraphicFramePr>
        <p:xfrm>
          <a:off x="566928" y="2852928"/>
          <a:ext cx="3900899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6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416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Model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Acc.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AUC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Brier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MLE </a:t>
                      </a:r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L</a:t>
                      </a:r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ogit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0.255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Bayes </a:t>
                      </a:r>
                      <a:r>
                        <a:rPr lang="en-US"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M</a:t>
                      </a:r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ean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itchFamily="2" charset="77"/>
                        </a:rPr>
                        <a:t>0.249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9768" y="4153460"/>
            <a:ext cx="3520440" cy="548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rmAutofit/>
          </a:bodyPr>
          <a:lstStyle/>
          <a:p>
            <a:pPr algn="ctr">
              <a:defRPr sz="1000">
                <a:solidFill>
                  <a:srgbClr val="2D2D2D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MCMC role: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xpose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alibration 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ncertainty for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hreshold-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ware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ong-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lat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ules.</a:t>
            </a:r>
          </a:p>
        </p:txBody>
      </p:sp>
      <p:pic>
        <p:nvPicPr>
          <p:cNvPr id="8" name="Picture 7" descr="bayes_mcmc_roc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173" y="510136"/>
            <a:ext cx="1920240" cy="1920240"/>
          </a:xfrm>
          <a:prstGeom prst="rect">
            <a:avLst/>
          </a:prstGeom>
        </p:spPr>
      </p:pic>
      <p:pic>
        <p:nvPicPr>
          <p:cNvPr id="9" name="Picture 8" descr="bayes_mcmc_calibration_hol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547" y="541580"/>
            <a:ext cx="1920240" cy="1920240"/>
          </a:xfrm>
          <a:prstGeom prst="rect">
            <a:avLst/>
          </a:prstGeom>
        </p:spPr>
      </p:pic>
      <p:pic>
        <p:nvPicPr>
          <p:cNvPr id="10" name="Picture 9" descr="bayes_mcmc_predictive_uncertainty_hold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899" y="2389632"/>
            <a:ext cx="3615267" cy="2312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8007" y="4555796"/>
            <a:ext cx="4069080" cy="292608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800" b="0">
                <a:solidFill>
                  <a:srgbClr val="696969"/>
                </a:solidFill>
                <a:latin typeface="Arial"/>
              </a:defRPr>
            </a:pPr>
            <a:r>
              <a:t>Default design: same wheat + cross-asset PCA inputs as TCN_PCA_WHEAT_ONLY, flattened into a linear Bayesian logit.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00110"/>
            <a:ext cx="780534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. Investment Strategy: Tactical Long-Flat Holdout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4/5</a:t>
            </a:r>
          </a:p>
        </p:txBody>
      </p:sp>
      <p:pic>
        <p:nvPicPr>
          <p:cNvPr id="5" name="Picture 4" descr="pipeline_tcn_pca_mcmc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906"/>
            <a:ext cx="3564423" cy="43607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0" y="551907"/>
            <a:ext cx="5176198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Retrain TCN_PCA_WHEAT_ONLY on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rain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+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V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alidation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nly.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Score the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erminal 15%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oldout with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redicted P(up).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Go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ong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nly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W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hen P(up)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lears a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urdle;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therwise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tay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lat.</a:t>
            </a:r>
          </a:p>
          <a:p>
            <a:pPr marL="171450" indent="-171450"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Proxy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nly: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ommissions,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olls,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argin,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ptions,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lippage,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Storage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or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ive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rder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iming.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78404"/>
              </p:ext>
            </p:extLst>
          </p:nvPr>
        </p:nvGraphicFramePr>
        <p:xfrm>
          <a:off x="3472983" y="1898698"/>
          <a:ext cx="5440680" cy="179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348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Rule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Tot. ret.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Vol.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Sharpe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Max DD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% 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L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Montserrat" pitchFamily="2" charset="77"/>
                        </a:rPr>
                        <a:t>ong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Buy-and-hold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-0.468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0.319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-0.36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-0.613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 &gt;= 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 &gt;= 0.50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0.51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P &gt;= 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2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Momentum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-0.155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0.211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-0.11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-0.399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564423" y="3902056"/>
            <a:ext cx="5349240" cy="669943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>
            <a:normAutofit/>
          </a:bodyPr>
          <a:lstStyle/>
          <a:p>
            <a:pPr>
              <a:defRPr sz="900">
                <a:solidFill>
                  <a:srgbClr val="2D2D2D"/>
                </a:solidFill>
                <a:latin typeface="Arial"/>
              </a:defRPr>
            </a:pPr>
            <a:r>
              <a:rPr sz="105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Interpretation: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ne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B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earish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H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oldout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ail,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itting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ut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art of the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ecline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educed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rawdown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V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ersus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F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ull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xposure. This is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isk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anagement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vidence,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N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ot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P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roof of </a:t>
            </a: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</a:t>
            </a:r>
            <a:r>
              <a:rPr sz="105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lpha.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42082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Discussion and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379" y="798606"/>
            <a:ext cx="4208203" cy="43088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Montserrat" pitchFamily="2" charset="77"/>
              </a:rPr>
              <a:t>What I </a:t>
            </a:r>
            <a:r>
              <a:rPr lang="en-US" sz="1200" dirty="0">
                <a:latin typeface="Montserrat" pitchFamily="2" charset="77"/>
              </a:rPr>
              <a:t>L</a:t>
            </a:r>
            <a:r>
              <a:rPr sz="1200" dirty="0">
                <a:latin typeface="Montserrat" pitchFamily="2" charset="77"/>
              </a:rPr>
              <a:t>earned</a:t>
            </a:r>
            <a:r>
              <a:rPr lang="en-US" sz="1200" dirty="0">
                <a:latin typeface="Montserrat" pitchFamily="2" charset="77"/>
              </a:rPr>
              <a:t> in this Semester ... and Conclusion</a:t>
            </a:r>
            <a:endParaRPr sz="1200" dirty="0">
              <a:latin typeface="Montserrat" pitchFamily="2" charset="7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9097" y="1309243"/>
            <a:ext cx="7874200" cy="33958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Daily Wheat Direction Forecasting Remains A Weak-Signal Problem.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TCN And PCA-Augmented TCN Produced The Best Descriptive Holdout Results, But The Improvement Was Modest.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Chronological Discipline Matters More Than Model Complexity.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Selective Alternative Data Helped More Than Broad Alternative Data Expansion.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More Data Did Not Automatically Improve Performance.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Leakage-Safe Design Was One Of The Most Important Lessons.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Model Accuracy Alone Is Not Enough For An Investment Strategy.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MCMC Helped Supplement The Strategy Layer With Posterior Probabilities And Uncertainty.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The Long-Flat Strategy Reduced Exposure During A Bearish Holdout Window.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The Strategy Result Should Be Interpreted As Risk Management, Not Proof Of Alpha.</a:t>
            </a:r>
          </a:p>
          <a:p>
            <a:pPr marL="171450" indent="-17145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Char char="v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Overall, The Project Became A Reproducible And Cautious ML Forecasting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1EB3A-11A5-7444-9EC1-6F7B3EC7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69D7-6607-0B97-FFF0-915862A67CA1}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1A71B-B682-CFAE-F27F-E3BE93097F5A}"/>
              </a:ext>
            </a:extLst>
          </p:cNvPr>
          <p:cNvSpPr txBox="1"/>
          <p:nvPr/>
        </p:nvSpPr>
        <p:spPr>
          <a:xfrm>
            <a:off x="320040" y="182880"/>
            <a:ext cx="64511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5. Future Work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(Next Semester Tasks?)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AA498-F2E3-4F42-D7D3-DD4CD2A09E9F}"/>
              </a:ext>
            </a:extLst>
          </p:cNvPr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5/5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755F1-718C-9F5F-97B9-18A32B38A99B}"/>
              </a:ext>
            </a:extLst>
          </p:cNvPr>
          <p:cNvSpPr txBox="1"/>
          <p:nvPr/>
        </p:nvSpPr>
        <p:spPr>
          <a:xfrm>
            <a:off x="544010" y="839474"/>
            <a:ext cx="8055980" cy="36610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Add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Alternative Trading Rules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Beyond Long-Flat, Such As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Long-Short, Volatility-Scaled Exposure, Confidence-Weighted Sizing, And Stop-Loss / Take-Profit Rules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Extend The MCMC Model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So Posterior Uncertainty Affects Position Size, Not Only The Trade/No-Trade Threshold.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Compare TCN Probabilities, Bayesian Posterior-Mean Probabilities,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And Ensemble Probabilities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Under The Same Strategy Rules.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Add Transaction-Aware Strategy Testing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With Commissions, Slippage, Bid-Ask Spread, Futures Rolls, Margin, And Contract Multipliers.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Run Walk-Forward Strategy Validation With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Expanding Windows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So Each Rule Is Tested Across Multiple Market Regimes.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Use MCMC Posterior Predictive Draws To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Stress-Test Strategy Outcomes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, Including Downside Risk And Probability Of Loss.</a:t>
            </a:r>
          </a:p>
          <a:p>
            <a:pPr marL="228600" indent="-228600">
              <a:lnSpc>
                <a:spcPct val="120000"/>
              </a:lnSpc>
              <a:spcAft>
                <a:spcPts val="400"/>
              </a:spcAft>
              <a:buClr>
                <a:schemeClr val="accent1">
                  <a:lumMod val="75000"/>
                </a:schemeClr>
              </a:buClr>
              <a:buFont typeface="+mj-lt"/>
              <a:buAutoNum type="arabicPeriod"/>
              <a:defRPr sz="1100">
                <a:solidFill>
                  <a:srgbClr val="2D2D2D"/>
                </a:solidFill>
                <a:latin typeface="Arial"/>
              </a:defRPr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Explore Regime-Aware Bayesian Models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</a:rPr>
              <a:t>, Where Parameters Or Thresholds Can Differ Across High-Volatility, Low-Volatility, And Macro-Stress Periods.</a:t>
            </a:r>
          </a:p>
        </p:txBody>
      </p:sp>
    </p:spTree>
    <p:extLst>
      <p:ext uri="{BB962C8B-B14F-4D97-AF65-F5344CB8AC3E}">
        <p14:creationId xmlns:p14="http://schemas.microsoft.com/office/powerpoint/2010/main" val="321962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</a:t>
            </a:r>
            <a:endParaRPr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2"/>
          </p:nvPr>
        </p:nvSpPr>
        <p:spPr>
          <a:xfrm>
            <a:off x="2496200" y="3804429"/>
            <a:ext cx="4151400" cy="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1"/>
          </p:nvPr>
        </p:nvSpPr>
        <p:spPr>
          <a:xfrm>
            <a:off x="2496050" y="2706049"/>
            <a:ext cx="4151400" cy="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" dirty="0"/>
              <a:t>Kenji Funaki</a:t>
            </a:r>
            <a:br>
              <a:rPr lang="en" dirty="0"/>
            </a:br>
            <a:r>
              <a:rPr lang="e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kf2623@nyu.edu</a:t>
            </a:r>
            <a:br>
              <a:rPr lang="en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https://www.linkedin.com/in/kfunaki/</a:t>
            </a:r>
            <a:endParaRPr lang="en-US" sz="1200" dirty="0">
              <a:solidFill>
                <a:schemeClr val="bg1"/>
              </a:solidFill>
            </a:endParaRPr>
          </a:p>
          <a:p>
            <a:pPr marL="0" lvl="0" indent="0">
              <a:spcAft>
                <a:spcPts val="1600"/>
              </a:spcAft>
            </a:pPr>
            <a:br>
              <a:rPr lang="en"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6D6D6D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1497</Words>
  <Application>Microsoft Macintosh PowerPoint</Application>
  <PresentationFormat>On-screen Show (16:9)</PresentationFormat>
  <Paragraphs>196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Montserrat</vt:lpstr>
      <vt:lpstr>Arial</vt:lpstr>
      <vt:lpstr>Montserrat SemiBold</vt:lpstr>
      <vt:lpstr>Wingdings</vt:lpstr>
      <vt:lpstr>Frank Ruhl Libre</vt:lpstr>
      <vt:lpstr>NYU Elegant</vt:lpstr>
      <vt:lpstr>VIP –ML for Agricultural Commodity Market</vt:lpstr>
      <vt:lpstr>Alternative Data for Wheat Futures  (TCN Model) :Recap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Funaki Kenji-NYK</cp:lastModifiedBy>
  <cp:revision>19</cp:revision>
  <dcterms:modified xsi:type="dcterms:W3CDTF">2026-05-12T04:45:12Z</dcterms:modified>
</cp:coreProperties>
</file>