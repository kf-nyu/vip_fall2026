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8"/>
  </p:notesMasterIdLst>
  <p:sldIdLst>
    <p:sldId id="256" r:id="rId7"/>
    <p:sldId id="257" r:id="rId6"/>
    <p:sldId id="258" r:id="rId5"/>
    <p:sldId id="259" r:id="rId4"/>
    <p:sldId id="260" r:id="rId3"/>
    <p:sldId id="261" r:id="rId2"/>
    <p:sldId id="262" r:id="rId27"/>
    <p:sldId id="263" r:id="rId28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Frank Ruhl Libre" pitchFamily="2" charset="-79"/>
      <p:regular r:id="rId13"/>
      <p:bold r:id="rId14"/>
    </p:embeddedFon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SemiBold" panose="00000700000000000000" pitchFamily="2" charset="77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9"/>
    <p:restoredTop sz="94516"/>
  </p:normalViewPr>
  <p:slideViewPr>
    <p:cSldViewPr snapToGrid="0">
      <p:cViewPr varScale="1">
        <p:scale>
          <a:sx n="169" d="100"/>
          <a:sy n="169" d="100"/>
        </p:scale>
        <p:origin x="192" y="10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6.xml"/><Relationship Id="rId3" Type="http://schemas.openxmlformats.org/officeDocument/2006/relationships/slide" Target="slides/slide5.xml"/><Relationship Id="rId4" Type="http://schemas.openxmlformats.org/officeDocument/2006/relationships/slide" Target="slides/slide4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font" Target="fonts/font13.fntdata"/><Relationship Id="rId22" Type="http://schemas.openxmlformats.org/officeDocument/2006/relationships/font" Target="fonts/font14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7.xml"/><Relationship Id="rId28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220337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t="7490" b="7490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496200" y="3103614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2"/>
          </p:nvPr>
        </p:nvSpPr>
        <p:spPr>
          <a:xfrm>
            <a:off x="2496200" y="4155404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0550" y="480150"/>
            <a:ext cx="2462890" cy="35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9792" y="477425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9" name="Google Shape;2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216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" name="Google Shape;3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541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640" y="4784707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1865" y="4824425"/>
            <a:ext cx="1821726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5" r:id="rId5"/>
    <p:sldLayoutId id="2147483662" r:id="rId6"/>
    <p:sldLayoutId id="2147483663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VIP - ML for Agricultural Commodity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34440"/>
            <a:ext cx="69494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2D2D2D"/>
                </a:solidFill>
                <a:latin typeface="Arial"/>
              </a:defRPr>
            </a:pPr>
            <a:r>
              <a:t>Final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64208"/>
            <a:ext cx="694944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000" b="1">
                <a:solidFill>
                  <a:srgbClr val="366091"/>
                </a:solidFill>
                <a:latin typeface="Arial"/>
              </a:defRPr>
            </a:pPr>
            <a:r>
              <a:t>Final Alternative Data and</a:t>
            </a:r>
          </a:p>
          <a:p>
            <a:pPr>
              <a:defRPr sz="2000" b="1">
                <a:solidFill>
                  <a:srgbClr val="366091"/>
                </a:solidFill>
                <a:latin typeface="Arial"/>
              </a:defRPr>
            </a:pPr>
            <a:r>
              <a:t>Preliminary 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64008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 b="1">
                <a:solidFill>
                  <a:srgbClr val="2D2D2D"/>
                </a:solidFill>
                <a:latin typeface="Arial"/>
              </a:defRPr>
            </a:pPr>
            <a:r>
              <a:t>TCN</a:t>
            </a:r>
          </a:p>
          <a:p>
            <a:pPr>
              <a:defRPr sz="1600" b="1">
                <a:solidFill>
                  <a:srgbClr val="2D2D2D"/>
                </a:solidFill>
                <a:latin typeface="Arial"/>
              </a:defRPr>
            </a:pPr>
            <a:r>
              <a:t>Temporal Convolutional 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86200"/>
            <a:ext cx="45720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0">
                <a:solidFill>
                  <a:srgbClr val="2D2D2D"/>
                </a:solidFill>
                <a:latin typeface="Arial"/>
              </a:defRPr>
            </a:pPr>
            <a:r>
              <a:t>Presenter: Kenji Funaki</a:t>
            </a:r>
          </a:p>
          <a:p>
            <a:pPr>
              <a:defRPr sz="1300" b="0">
                <a:solidFill>
                  <a:srgbClr val="2D2D2D"/>
                </a:solidFill>
                <a:latin typeface="Arial"/>
              </a:defRPr>
            </a:pPr>
            <a:r>
              <a:t>May 12th,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Alternative Data for Wheat Futures (TCN Model):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0/5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04672"/>
            <a:ext cx="132588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804672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200" b="0">
                <a:solidFill>
                  <a:srgbClr val="2D2D2D"/>
                </a:solidFill>
                <a:latin typeface="Arial"/>
              </a:defRPr>
            </a:pPr>
            <a:r>
              <a:t>Enhance directional prediction of wheat futures by incorporating cross-asset and macro alternative data that capture global economic conditions, risk sentiment, and supply-demand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993392"/>
            <a:ext cx="214884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Prior Alternative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79476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DXY / dollar index, VIX, oil, gold, soybeans, and FRED-MD macro PCA factors.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Earlier validation metrics were close to baseline and still looked like tuning.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Main lesson: more data sources did not automatically improve wheat direction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993392"/>
            <a:ext cx="1920240" cy="320040"/>
          </a:xfrm>
          <a:prstGeom prst="roundRect">
            <a:avLst/>
          </a:prstGeom>
          <a:solidFill>
            <a:srgbClr val="5B9B68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Updated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468880"/>
            <a:ext cx="370332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Narrow the alternative-data set to economically motivated cross-asset returns.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Use leakage-safe scaling and PCA inside chronological folds.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Report the update as an ablation, not a claim of strong alpha.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7772400" cy="50292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000">
                <a:solidFill>
                  <a:srgbClr val="2D2D2D"/>
                </a:solidFill>
                <a:latin typeface="Arial"/>
              </a:defRPr>
            </a:pPr>
            <a:r>
              <a:t>The earlier presentation motivated the alternative-data idea; the final update makes the test narrower, cleaner, and easier to defend.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1. Alternative Data Update: Narrower, Cleaner, More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1/5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777240"/>
            <a:ext cx="2377440" cy="320040"/>
          </a:xfrm>
          <a:prstGeom prst="roundRect">
            <a:avLst/>
          </a:prstGeom>
          <a:solidFill>
            <a:srgbClr val="B24C4C"/>
          </a:solidFill>
          <a:ln>
            <a:solidFill>
              <a:srgbClr val="B2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April issue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777240"/>
            <a:ext cx="237744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May update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777240"/>
            <a:ext cx="2377440" cy="320040"/>
          </a:xfrm>
          <a:prstGeom prst="roundRect">
            <a:avLst/>
          </a:prstGeom>
          <a:solidFill>
            <a:srgbClr val="5B9B68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242316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Broad alternative-data list was too noisy for daily direction.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Validation looked weak and hard to explain.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Pipeline was still being tuned, so claims were not stable.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07008"/>
            <a:ext cx="246888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Focused on economically motivated daily returns: corn, soy, UUP, CAD.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Combined 7 wheat features + 4 cross-asset returns.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Used train-fold-only scaling and PCA(5), then TCN.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207008"/>
            <a:ext cx="2468880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Small improvement over the TCN reference, but not a strong signal.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Larger cross-asset + macro PCA panel underperformed on this tail.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The update is better framed as an ablation, not a victory lap.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73552"/>
            <a:ext cx="7955279" cy="59436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200">
                <a:solidFill>
                  <a:srgbClr val="2D2D2D"/>
                </a:solidFill>
                <a:latin typeface="Arial"/>
              </a:defRPr>
            </a:pPr>
            <a:r>
              <a:t>Core change: move from 'many possible alternative data sources' to a leakage-safe comparison of two PCA-augmented TCN tracks.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87368"/>
            <a:ext cx="7498079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300" b="1">
                <a:solidFill>
                  <a:srgbClr val="366091"/>
                </a:solidFill>
                <a:latin typeface="Arial"/>
              </a:defRPr>
            </a:pPr>
            <a:r>
              <a:t>Wheat features + selected cross-asset returns -&gt; fold-safe PCA -&gt; TCN probabilities -&gt; holdout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2. Table III: PCA-Augmented TCN on Terminal Holdout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2/5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941832"/>
          <a:ext cx="809244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960120"/>
                <a:gridCol w="1005840"/>
                <a:gridCol w="9601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F1_M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TCN_Revised reference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0.526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TCN_PCA_WHEAT_ONLY: 7 wheat + corn/soy/UUP/CAD returns, PCA(5)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TCN_PCA: Yahoo overlay + FRED-MD + 4 returns -&gt; macro PCA(5)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0.482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0.463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2743200"/>
            <a:ext cx="3886200" cy="96012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100">
                <a:solidFill>
                  <a:srgbClr val="2D2D2D"/>
                </a:solidFill>
                <a:latin typeface="Arial"/>
              </a:defRPr>
            </a:pPr>
            <a:r>
              <a:t>Key read: the narrower wheat-centered PCA track reached 54.3% accuracy, barely above the reference TCN. The broader cross-asset + macro PCA track fell below 50%.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2743200"/>
            <a:ext cx="3886200" cy="960120"/>
          </a:xfrm>
          <a:prstGeom prst="roundRect">
            <a:avLst/>
          </a:prstGeom>
          <a:solidFill>
            <a:srgbClr val="F2F2F2"/>
          </a:solidFill>
          <a:ln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100">
                <a:solidFill>
                  <a:srgbClr val="2D2D2D"/>
                </a:solidFill>
                <a:latin typeface="Arial"/>
              </a:defRPr>
            </a:pPr>
            <a:r>
              <a:t>Why it matters: alternative data helped only when it was selective and leakage-safe. More data did not automatically mean a better signal.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800100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>
                <a:solidFill>
                  <a:srgbClr val="696969"/>
                </a:solidFill>
                <a:latin typeface="Arial"/>
              </a:defRPr>
            </a:pPr>
            <a:r>
              <a:t>Replay: Adam LR=1e-6, 50 epochs, channels {128,64}, Apple MPS; terminal 15% chronological holdout; threshold 0.5 for Acc.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3. Why MCMC? Strategy Needs Probabilities and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41248"/>
            <a:ext cx="3886200" cy="1783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Investment overlay consumes P(up), not just a hard up/down label.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A TCN can rank days, but a single probability does not show uncertainty.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Bayesian logistic MCMC gives posterior-mean probabilities and dispersion.</a:t>
            </a:r>
          </a:p>
          <a:p>
            <a:pPr>
              <a:spcAft>
                <a:spcPts val="400"/>
              </a:spcAft>
              <a:defRPr sz="1100">
                <a:solidFill>
                  <a:srgbClr val="2D2D2D"/>
                </a:solidFill>
                <a:latin typeface="Arial"/>
              </a:defRPr>
            </a:pPr>
            <a:r>
              <a:t>This supplements the strategy layer; it is not the champion forecaster.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852928"/>
          <a:ext cx="3383280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820"/>
                <a:gridCol w="845820"/>
                <a:gridCol w="845820"/>
                <a:gridCol w="845820"/>
              </a:tblGrid>
              <a:tr h="280416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AUC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Brier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MLE logit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0.255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80416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Bayes mean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D2D2D"/>
                          </a:solidFill>
                          <a:latin typeface="Arial"/>
                        </a:rPr>
                        <a:t>0.249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950208"/>
            <a:ext cx="3520440" cy="548640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1000">
                <a:solidFill>
                  <a:srgbClr val="2D2D2D"/>
                </a:solidFill>
                <a:latin typeface="Arial"/>
              </a:defRPr>
            </a:pPr>
            <a:r>
              <a:t>MCMC role: expose calibration and uncertainty for threshold-aware long-flat rules.</a:t>
            </a:r>
          </a:p>
        </p:txBody>
      </p:sp>
      <p:pic>
        <p:nvPicPr>
          <p:cNvPr id="8" name="Picture 7" descr="bayes_mcmc_roc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841248"/>
            <a:ext cx="1920240" cy="1920240"/>
          </a:xfrm>
          <a:prstGeom prst="rect">
            <a:avLst/>
          </a:prstGeom>
        </p:spPr>
      </p:pic>
      <p:pic>
        <p:nvPicPr>
          <p:cNvPr id="9" name="Picture 8" descr="bayes_mcmc_calibration_hol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841248"/>
            <a:ext cx="1920240" cy="1920240"/>
          </a:xfrm>
          <a:prstGeom prst="rect">
            <a:avLst/>
          </a:prstGeom>
        </p:spPr>
      </p:pic>
      <p:pic>
        <p:nvPicPr>
          <p:cNvPr id="10" name="Picture 9" descr="bayes_mcmc_predictive_uncertainty_hold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926080"/>
            <a:ext cx="3246120" cy="2164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7720" y="4407408"/>
            <a:ext cx="40690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00" b="0">
                <a:solidFill>
                  <a:srgbClr val="696969"/>
                </a:solidFill>
                <a:latin typeface="Arial"/>
              </a:defRPr>
            </a:pPr>
            <a:r>
              <a:t>Default design: same wheat + cross-asset PCA inputs as TCN_PCA_WHEAT_ONLY, flattened into a linear Bayesian logit.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4. Investment Strategy: Tactical Long-Flat Holdout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4/5</a:t>
            </a:r>
          </a:p>
        </p:txBody>
      </p:sp>
      <p:pic>
        <p:nvPicPr>
          <p:cNvPr id="5" name="Picture 4" descr="pipeline_tcn_pca_mcmc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786384"/>
            <a:ext cx="2788920" cy="3411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822960"/>
            <a:ext cx="544068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Retrain TCN_PCA_WHEAT_ONLY on train+validation only.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Score the terminal 15% holdout with predicted P(up).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Go long only when P(up) clears a hurdle; otherwise stay flat.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Proxy only: no commissions, rolls, margin, options, slippage, or live order timing.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0" y="2487168"/>
          <a:ext cx="54406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906780"/>
                <a:gridCol w="906780"/>
                <a:gridCol w="906780"/>
                <a:gridCol w="906780"/>
                <a:gridCol w="906780"/>
              </a:tblGrid>
              <a:tr h="231648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Tot. ret.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Vol.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Sharpe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Max DD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Arial"/>
                        </a:rPr>
                        <a:t>% long</a:t>
                      </a:r>
                    </a:p>
                  </a:txBody>
                  <a:tcPr>
                    <a:solidFill>
                      <a:srgbClr val="366091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Buy-and-hold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-0.468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0.319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-0.36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-0.613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0.50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0.51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P &gt;= tau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0.217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Momentum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-0.155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0.211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-0.11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-0.399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2D2D2D"/>
                          </a:solidFill>
                          <a:latin typeface="Arial"/>
                        </a:rPr>
                        <a:t>0.46</a:t>
                      </a:r>
                    </a:p>
                  </a:txBody>
                  <a:tcPr>
                    <a:solidFill>
                      <a:srgbClr val="E1EBF7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46120" y="4096512"/>
            <a:ext cx="5349240" cy="566928"/>
          </a:xfrm>
          <a:prstGeom prst="roundRect">
            <a:avLst/>
          </a:prstGeom>
          <a:solidFill>
            <a:srgbClr val="E1EBF7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>
            <a:normAutofit/>
          </a:bodyPr>
          <a:lstStyle/>
          <a:p>
            <a:pPr algn="ctr">
              <a:defRPr sz="900">
                <a:solidFill>
                  <a:srgbClr val="2D2D2D"/>
                </a:solidFill>
                <a:latin typeface="Arial"/>
              </a:defRPr>
            </a:pPr>
            <a:r>
              <a:t>Interpretation: on one bearish holdout tail, sitting out part of the decline reduced drawdown versus full exposure. This is risk management evidence, not proof of alpha.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6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82880"/>
            <a:ext cx="84124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66091"/>
                </a:solidFill>
                <a:latin typeface="Arial"/>
              </a:defRPr>
            </a:pPr>
            <a:r>
              <a:t>5. Conclusion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96969"/>
                </a:solidFill>
                <a:latin typeface="Arial"/>
              </a:defRPr>
            </a:pPr>
            <a:r>
              <a:t>VIP Forecasting Project | Kenji Funaki | May 2026 | 5/5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841248"/>
            <a:ext cx="196596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What I learned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80160"/>
            <a:ext cx="3749039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Daily wheat direction is a weak-signal problem.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Chronological discipline matters more than model complexity.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Alternative data must be selective, causal, and tested as ablations.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AI/ML helped organize experiments, but did not remove market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841248"/>
            <a:ext cx="1965960" cy="320040"/>
          </a:xfrm>
          <a:prstGeom prst="roundRect">
            <a:avLst/>
          </a:prstGeom>
          <a:solidFill>
            <a:srgbClr val="5B9B68"/>
          </a:solidFill>
          <a:ln>
            <a:solidFill>
              <a:srgbClr val="5B9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Final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3840480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TCN and PCA-augmented TCN showed the best descriptive holdout results.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Model differences should not be read as statistically significant superiority.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Probability use, calibration, and when to stay flat may matter as much as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063240"/>
            <a:ext cx="2697480" cy="320040"/>
          </a:xfrm>
          <a:prstGeom prst="roundRect">
            <a:avLst/>
          </a:prstGeom>
          <a:solidFill>
            <a:srgbClr val="366091"/>
          </a:solidFill>
          <a:ln>
            <a:solidFill>
              <a:srgbClr val="366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If more time were allowed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493008"/>
            <a:ext cx="79095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Run expanding-window walk-forward tests with nested tuning.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Add FRED-vintage sensitivity and alternate calendar cutoffs.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Model commissions, rolls, contract multipliers, margin, and liquidity.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Compare TCN with/without macro PCA on identical splits.</a:t>
            </a:r>
          </a:p>
          <a:p>
            <a:pPr>
              <a:spcAft>
                <a:spcPts val="400"/>
              </a:spcAft>
              <a:defRPr sz="1000">
                <a:solidFill>
                  <a:srgbClr val="2D2D2D"/>
                </a:solidFill>
                <a:latin typeface="Arial"/>
              </a:defRPr>
            </a:pPr>
            <a:r>
              <a:t>Use Bayesian uncertainty for calibration-aware thresholds, not overfitting.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234440"/>
            <a:ext cx="68580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400" b="1">
                <a:solidFill>
                  <a:srgbClr val="366091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23160" y="2423160"/>
            <a:ext cx="43891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 b="0">
                <a:solidFill>
                  <a:srgbClr val="2D2D2D"/>
                </a:solidFill>
                <a:latin typeface="Arial"/>
              </a:defRPr>
            </a:pPr>
            <a:r>
              <a:t>Kenji Funaki</a:t>
            </a:r>
          </a:p>
          <a:p>
            <a:pPr>
              <a:defRPr sz="1400" b="0">
                <a:solidFill>
                  <a:srgbClr val="2D2D2D"/>
                </a:solidFill>
                <a:latin typeface="Arial"/>
              </a:defRPr>
            </a:pPr>
            <a:r>
              <a:t>kf2623@nyu.edu</a:t>
            </a:r>
          </a:p>
          <a:p>
            <a:pPr>
              <a:defRPr sz="1400" b="0">
                <a:solidFill>
                  <a:srgbClr val="2D2D2D"/>
                </a:solidFill>
                <a:latin typeface="Arial"/>
              </a:defRPr>
            </a:pPr>
            <a:r>
              <a:t>https://www.linkedin.com/in/kfunaki/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6D6D6D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2364</TotalTime>
  <Words>855</Words>
  <Application>Microsoft Macintosh PowerPoint</Application>
  <PresentationFormat>On-screen Show (16:9)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Montserrat</vt:lpstr>
      <vt:lpstr>Montserrat SemiBold</vt:lpstr>
      <vt:lpstr>Cambria</vt:lpstr>
      <vt:lpstr>Frank Ruhl Libre</vt:lpstr>
      <vt:lpstr>Arial</vt:lpstr>
      <vt:lpstr>NYU Elegant</vt:lpstr>
      <vt:lpstr>VIP –ML for Agricultural Commodity Market</vt:lpstr>
      <vt:lpstr>Model1 Factor-Augmented Vector Autoregression (FAVAR)</vt:lpstr>
      <vt:lpstr>Temporal Convolutional Network (TCN)</vt:lpstr>
      <vt:lpstr>Summary : Direction Model Comparisons </vt:lpstr>
      <vt:lpstr>Alternative Data for Wheat Futures Prediction (TCN Model)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Funaki Kenji-NYK</cp:lastModifiedBy>
  <cp:revision>17</cp:revision>
  <dcterms:modified xsi:type="dcterms:W3CDTF">2026-04-01T03:51:50Z</dcterms:modified>
</cp:coreProperties>
</file>