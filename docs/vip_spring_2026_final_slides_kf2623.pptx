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4" r:id="rId1"/>
  </p:sldMasterIdLst>
  <p:notesMasterIdLst>
    <p:notesMasterId r:id="rId10"/>
  </p:notesMasterIdLst>
  <p:sldIdLst>
    <p:sldId id="261" r:id="rId2"/>
    <p:sldId id="281" r:id="rId3"/>
    <p:sldId id="256" r:id="rId4"/>
    <p:sldId id="258" r:id="rId5"/>
    <p:sldId id="259" r:id="rId6"/>
    <p:sldId id="260" r:id="rId7"/>
    <p:sldId id="282" r:id="rId8"/>
    <p:sldId id="262" r:id="rId9"/>
  </p:sldIdLst>
  <p:sldSz cx="9144000" cy="5143500" type="screen16x9"/>
  <p:notesSz cx="6858000" cy="9144000"/>
  <p:embeddedFontLst>
    <p:embeddedFont>
      <p:font typeface="Frank Ruhl Libre" pitchFamily="2" charset="-79"/>
      <p:regular r:id="rId11"/>
      <p:bold r:id="rId12"/>
    </p:embeddedFont>
    <p:embeddedFont>
      <p:font typeface="Montserrat" pitchFamily="2" charset="77"/>
      <p:regular r:id="rId13"/>
      <p:bold r:id="rId14"/>
      <p:italic r:id="rId15"/>
      <p:boldItalic r:id="rId16"/>
    </p:embeddedFont>
    <p:embeddedFont>
      <p:font typeface="Montserrat SemiBold" panose="00000700000000000000" pitchFamily="2" charset="77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483"/>
    <p:restoredTop sz="94516"/>
  </p:normalViewPr>
  <p:slideViewPr>
    <p:cSldViewPr snapToGrid="0">
      <p:cViewPr>
        <p:scale>
          <a:sx n="200" d="100"/>
          <a:sy n="200" d="100"/>
        </p:scale>
        <p:origin x="320" y="11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US" sz="2400" b="0" i="0" u="none" strike="noStrike" cap="none" baseline="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Arial"/>
                <a:cs typeface="Arial"/>
                <a:sym typeface="Arial"/>
              </a:rPr>
              <a:t>This final presentation summarizes the most recent stage of the VIP wheat forecasting project. The focus is on the update from the earlier alternative-data work toward a cleaner PCA-augmented TCN pipeline, a Bayesian MCMC probability layer, and a preliminary investment-strategy proxy. The key framing is cautious: this is an empirical machine-learning forecasting study and strategy evaluation, not a production trading system or investment recommendation.</a:t>
            </a:r>
            <a:endParaRPr lang="en-US" sz="2400" baseline="0" dirty="0">
              <a:latin typeface="Aptos" panose="020B000402020202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13FE7170-9F72-7927-4976-9C1748CE6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806743487f_0_7:notes">
            <a:extLst>
              <a:ext uri="{FF2B5EF4-FFF2-40B4-BE49-F238E27FC236}">
                <a16:creationId xmlns:a16="http://schemas.microsoft.com/office/drawing/2014/main" id="{F154C174-9377-ABEA-3396-7F7D5402D1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806743487f_0_7:notes">
            <a:extLst>
              <a:ext uri="{FF2B5EF4-FFF2-40B4-BE49-F238E27FC236}">
                <a16:creationId xmlns:a16="http://schemas.microsoft.com/office/drawing/2014/main" id="{B0A97D6A-1CCE-B576-F6F0-5BE874002B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This slide recaps the earlier alternative-data presentation. At that point, the goal was to improve wheat direction prediction by adding cross-asset and macro features such as oil, gold, DXY, soybeans, VIX, and FRED-MD PCA factors. The pipeline used feature engineering, macro compression through PCA, sliding windows, and a TCN classifier. The important result was that the approach still could not clearly beat the baseline TCN. That was a useful negative result: it showed that broad alternative data and more features do not automatically create better directional signal.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581841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This slide shows the update from the earlier work. I narrowed the alternative-data design to four economically motivated daily return series: corn and soybeans as related agricultural markets, UUP as a U.S. dollar proxy, and CAD/USD as a North American export and FX channel. The Pearson correlations help explain the selection: corn and soy had positive correlations with wheat, while UUP and CAD/USD had modest negative correlations. The final PCA track used seven wheat-derived features plus those four cross-asset returns, with train-fold-only scaling and PCA before the TCN.</a:t>
            </a:r>
          </a:p>
          <a:p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The table gives the main result. The baseline TCN reference reached 0.541 holdout accuracy. The narrower TCN_PCA_WHEAT_ONLY pipeline reached 0.543, which is only a small descriptive improvement. The broader TCN_PCA version, which added the Yahoo overlay and macro PCA block, underperformed at 0.482. My interpretation is that the useful progress is not a claim that alternative data solved the problem, but a cleaner and more defensible ablation showing that selective data worked better than broad expansion.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36738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The motivation for MCMC came from the investment-strategy layer. A strategy does not only need a hard up-or-down label; it needs probabilities, thresholds, and some understanding of uncertainty. The TCN can rank days and output probabilities, but a single probability does not show how uncertain the model is. The Bayesian logistic MCMC model supplements the TCN by producing posterior-mean probabilities and uncertainty diagnostics on a flattened wheat-PCA design.</a:t>
            </a:r>
          </a:p>
          <a:p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The table compares a standard maximum-likelihood logistic model with the Bayesian posterior-mean probability model. The Bayesian version had 0.542 accuracy and a slightly better Brier score, while the AUC stayed close to coin-flip. I do not present MCMC as the champion forecaster. Its role is to support calibration, uncertainty analysis, and threshold-aware long-flat rules.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39773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This slide explains the preliminary investment-strategy proxy. I retrain TCN_PCA_WHEAT_ONLY on the train-plus-validation period only, then score the terminal 15 percent holdout with predicted probability of an up day. The rules convert those probabilities into long-flat exposure: go long only when the probability clears a threshold, otherwise stay flat. Buy-and-hold stays long every day.</a:t>
            </a:r>
          </a:p>
          <a:p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The results are best read as a risk-management comparison on one bearish holdout window. Buy-and-hold lost about 46.8 percent, while the long-flat rules reduced exposure by sitting out part of the decline. The validation-threshold rule was long about 42 percent of the time and had a smaller maximum drawdown than full exposure. This is not proof of alpha. It is a frictionless proxy that still excludes commissions, contract rolls, margin, options, slippage, storage, and live order timing.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98402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The main conclusion is that daily wheat direction forecasting remains a weak-signal problem. The TCN and PCA-augmented TCN produced the best descriptive holdout results, but the improvement was modest. Chronological discipline mattered more than model complexity: train-only scaling, leakage-safe PCA, and honest holdout evaluation were essential. Selective alternative data helped more than broad data expansion, but more data did not automatically improve performance.</a:t>
            </a:r>
          </a:p>
          <a:p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The investment-strategy work reinforced the same lesson. Model accuracy alone is not enough; probabilities, calibration, and uncertainty matter when forecasts are mapped into positions. MCMC helped supplement the strategy layer with posterior probabilities and uncertainty. The long-flat strategy reduced exposure during a bearish holdout window, but the result should be interpreted as risk management, not proof of alpha. Overall, the project became a reproducible and cautious ML forecasting evaluation.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84287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If this work continues next semester, I will extend both the strategy side and the probabilistic modeling side. On the strategy side, I would test rules beyond long-flat, including long-short, volatility-scaled exposure, confidence-weighted sizing, and stop-loss or take-profit rules. I would also add transaction-aware testing with commissions, slippage, bid-ask spread, futures rolls, margin, and contract multipliers.</a:t>
            </a:r>
          </a:p>
          <a:p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On the validation side, I would use expanding-window walk-forward tests, so each rule is evaluated across multiple market regimes. On the Bayesian side, I would let posterior uncertainty affect position size, compare TCN probabilities with Bayesian posterior-mean probabilities and ensemble probabilities, and use posterior predictive draws to stress-test downside risk and probability of loss. A later extension could also use regime-aware Bayesian models where parameters or thresholds differ across high-volatility, low-volatility, and macro-stress periods.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48764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806743487f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806743487f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Thank you so much, Professor Amine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Aboussalah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the course TAs regarding the guidance this semester. I am happy to discuss the alternative-data choices, the PCA-augmented TCN results, the Bayesian MCMC probability layer, or how the preliminary long-flat strategy proxy could be made more realistic in a follow-on term.</a:t>
            </a: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220337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 t="7490" b="7490"/>
          <a:stretch/>
        </p:blipFill>
        <p:spPr>
          <a:xfrm>
            <a:off x="0" y="0"/>
            <a:ext cx="9144003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title"/>
          </p:nvPr>
        </p:nvSpPr>
        <p:spPr>
          <a:xfrm>
            <a:off x="904850" y="1253682"/>
            <a:ext cx="7333800" cy="15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72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2496200" y="3103614"/>
            <a:ext cx="4151400" cy="7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body" idx="2"/>
          </p:nvPr>
        </p:nvSpPr>
        <p:spPr>
          <a:xfrm>
            <a:off x="2496200" y="4155404"/>
            <a:ext cx="4151400" cy="30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 SemiBold"/>
              <a:buChar char="●"/>
              <a:defRPr sz="1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marL="914400" lvl="1" indent="-29210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 SemiBold"/>
              <a:buChar char="○"/>
              <a:defRPr sz="1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marL="1371600" lvl="2" indent="-29210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 SemiBold"/>
              <a:buChar char="■"/>
              <a:defRPr sz="1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marL="1828800" lvl="3" indent="-29210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 SemiBold"/>
              <a:buChar char="●"/>
              <a:defRPr sz="1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marL="2286000" lvl="4" indent="-29210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 SemiBold"/>
              <a:buChar char="○"/>
              <a:defRPr sz="1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marL="2743200" lvl="5" indent="-29210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 SemiBold"/>
              <a:buChar char="■"/>
              <a:defRPr sz="1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marL="3200400" lvl="6" indent="-29210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 SemiBold"/>
              <a:buChar char="●"/>
              <a:defRPr sz="1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marL="3657600" lvl="7" indent="-29210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 SemiBold"/>
              <a:buChar char="○"/>
              <a:defRPr sz="1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marL="4114800" lvl="8" indent="-29210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 SemiBold"/>
              <a:buChar char="■"/>
              <a:defRPr sz="1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>
            <a:endParaRPr/>
          </a:p>
        </p:txBody>
      </p:sp>
      <p:pic>
        <p:nvPicPr>
          <p:cNvPr id="13" name="Google Shape;1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40550" y="480150"/>
            <a:ext cx="2462890" cy="35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 b="1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700" b="1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311700" y="587975"/>
            <a:ext cx="6551100" cy="65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800"/>
              <a:buNone/>
              <a:defRPr sz="4800">
                <a:solidFill>
                  <a:srgbClr val="57068C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311700" y="1448400"/>
            <a:ext cx="6551100" cy="22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pic>
        <p:nvPicPr>
          <p:cNvPr id="21" name="Google Shape;21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9792" y="4774257"/>
            <a:ext cx="1821726" cy="26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">
          <p15:clr>
            <a:srgbClr val="FA7B17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311700" y="587970"/>
            <a:ext cx="4945500" cy="113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800"/>
              <a:buNone/>
              <a:defRPr sz="4800">
                <a:solidFill>
                  <a:srgbClr val="57068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1"/>
          </p:nvPr>
        </p:nvSpPr>
        <p:spPr>
          <a:xfrm>
            <a:off x="311700" y="2467949"/>
            <a:ext cx="3999900" cy="18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lnSpc>
                <a:spcPct val="12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2"/>
          </p:nvPr>
        </p:nvSpPr>
        <p:spPr>
          <a:xfrm>
            <a:off x="4619925" y="2467949"/>
            <a:ext cx="3999900" cy="18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lnSpc>
                <a:spcPct val="12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5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 b="1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700" b="1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" name="Google Shape;27;p5"/>
          <p:cNvSpPr txBox="1">
            <a:spLocks noGrp="1"/>
          </p:cNvSpPr>
          <p:nvPr>
            <p:ph type="subTitle" idx="3"/>
          </p:nvPr>
        </p:nvSpPr>
        <p:spPr>
          <a:xfrm>
            <a:off x="311700" y="2054620"/>
            <a:ext cx="3999900" cy="4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chemeClr val="dk1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ubTitle" idx="4"/>
          </p:nvPr>
        </p:nvSpPr>
        <p:spPr>
          <a:xfrm>
            <a:off x="4619925" y="2054620"/>
            <a:ext cx="3999900" cy="4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chemeClr val="dk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29" name="Google Shape;29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216" y="4824425"/>
            <a:ext cx="1821726" cy="26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530680"/>
            <a:ext cx="8424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3600"/>
              <a:buNone/>
              <a:defRPr>
                <a:solidFill>
                  <a:srgbClr val="57068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 b="1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700" b="1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" name="Google Shape;3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7541" y="4824425"/>
            <a:ext cx="1821726" cy="26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 descr=" 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title"/>
          </p:nvPr>
        </p:nvSpPr>
        <p:spPr>
          <a:xfrm>
            <a:off x="294375" y="1233175"/>
            <a:ext cx="40791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3600"/>
              <a:buNone/>
              <a:defRPr sz="3600">
                <a:solidFill>
                  <a:srgbClr val="57068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ubTitle" idx="1"/>
          </p:nvPr>
        </p:nvSpPr>
        <p:spPr>
          <a:xfrm>
            <a:off x="294375" y="2803075"/>
            <a:ext cx="36168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6ABA"/>
              </a:buClr>
              <a:buSzPts val="1800"/>
              <a:buNone/>
              <a:defRPr>
                <a:solidFill>
                  <a:srgbClr val="9A6ABA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55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9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 b="1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700" b="1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0" name="Google Shape;50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640" y="4784707"/>
            <a:ext cx="1821726" cy="26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with folio" type="blank">
  <p:cSld name="BLANK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 b="1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700" b="1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9" name="Google Shape;89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1865" y="4824425"/>
            <a:ext cx="1821726" cy="26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_1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368825"/>
            <a:ext cx="8424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3600"/>
              <a:buFont typeface="Frank Ruhl Libre"/>
              <a:buNone/>
              <a:defRPr sz="3600" b="1">
                <a:solidFill>
                  <a:srgbClr val="57068C"/>
                </a:solidFill>
                <a:latin typeface="Frank Ruhl Libre"/>
                <a:ea typeface="Frank Ruhl Libre"/>
                <a:cs typeface="Frank Ruhl Libre"/>
                <a:sym typeface="Frank Ruhl Libr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424900" cy="31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1800"/>
              <a:buFont typeface="Montserrat"/>
              <a:buChar char="●"/>
              <a:defRPr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○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■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●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○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■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●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○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57068C"/>
              </a:buClr>
              <a:buSzPts val="1400"/>
              <a:buFont typeface="Montserrat"/>
              <a:buChar char="■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5" r:id="rId5"/>
    <p:sldLayoutId id="2147483662" r:id="rId6"/>
    <p:sldLayoutId id="2147483663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56">
          <p15:clr>
            <a:srgbClr val="EA4335"/>
          </p15:clr>
        </p15:guide>
        <p15:guide id="2" orient="horz" pos="3025">
          <p15:clr>
            <a:srgbClr val="EA4335"/>
          </p15:clr>
        </p15:guide>
        <p15:guide id="3" pos="5503">
          <p15:clr>
            <a:srgbClr val="EA4335"/>
          </p15:clr>
        </p15:guide>
        <p15:guide id="4" orient="horz" pos="2693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mailto:kf2623@nyu.edu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linkedin.com/in/kenji-funaki-aa133617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>
            <a:spLocks noGrp="1"/>
          </p:cNvSpPr>
          <p:nvPr>
            <p:ph type="title"/>
          </p:nvPr>
        </p:nvSpPr>
        <p:spPr>
          <a:xfrm>
            <a:off x="245556" y="1414761"/>
            <a:ext cx="8440711" cy="42235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latin typeface="Montserrat" pitchFamily="2" charset="77"/>
              </a:rPr>
              <a:t>VIP –ML for Agricultural Commodity Market</a:t>
            </a:r>
            <a:endParaRPr sz="2800" dirty="0"/>
          </a:p>
        </p:txBody>
      </p:sp>
      <p:sp>
        <p:nvSpPr>
          <p:cNvPr id="96" name="Google Shape;96;p18"/>
          <p:cNvSpPr txBox="1">
            <a:spLocks noGrp="1"/>
          </p:cNvSpPr>
          <p:nvPr>
            <p:ph type="subTitle" idx="1"/>
          </p:nvPr>
        </p:nvSpPr>
        <p:spPr>
          <a:xfrm>
            <a:off x="457733" y="856444"/>
            <a:ext cx="8325515" cy="190553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en-US" dirty="0"/>
              <a:t>Final Presentation</a:t>
            </a:r>
          </a:p>
          <a:p>
            <a:pPr marL="0" lvl="0" indent="0">
              <a:spcAft>
                <a:spcPts val="1600"/>
              </a:spcAft>
            </a:pPr>
            <a:endParaRPr lang="en-US" dirty="0"/>
          </a:p>
          <a:p>
            <a:pPr marL="0" lvl="0" indent="0">
              <a:spcAft>
                <a:spcPts val="1600"/>
              </a:spcAft>
            </a:pPr>
            <a:endParaRPr lang="en-US" b="1" dirty="0"/>
          </a:p>
          <a:p>
            <a:pPr marL="0" lvl="0" indent="0">
              <a:spcAft>
                <a:spcPts val="1600"/>
              </a:spcAft>
            </a:pPr>
            <a:endParaRPr lang="en-US" b="1" dirty="0"/>
          </a:p>
          <a:p>
            <a:pPr marL="0" lvl="0" indent="0">
              <a:spcAft>
                <a:spcPts val="1600"/>
              </a:spcAft>
            </a:pPr>
            <a:r>
              <a:rPr lang="en-US" b="1" dirty="0"/>
              <a:t>Final Alternative Data and</a:t>
            </a:r>
          </a:p>
          <a:p>
            <a:pPr marL="0" lvl="0" indent="0">
              <a:spcAft>
                <a:spcPts val="1600"/>
              </a:spcAft>
            </a:pPr>
            <a:r>
              <a:rPr lang="en-US" b="1" dirty="0"/>
              <a:t>Preliminary Investment Strategy</a:t>
            </a:r>
            <a:endParaRPr b="1" dirty="0"/>
          </a:p>
        </p:txBody>
      </p:sp>
      <p:sp>
        <p:nvSpPr>
          <p:cNvPr id="97" name="Google Shape;97;p18"/>
          <p:cNvSpPr txBox="1">
            <a:spLocks noGrp="1"/>
          </p:cNvSpPr>
          <p:nvPr>
            <p:ph type="body" idx="2"/>
          </p:nvPr>
        </p:nvSpPr>
        <p:spPr>
          <a:xfrm>
            <a:off x="3831220" y="1625936"/>
            <a:ext cx="4016416" cy="2278675"/>
          </a:xfrm>
          <a:prstGeom prst="rect">
            <a:avLst/>
          </a:prstGeom>
          <a:ln w="19050">
            <a:noFill/>
          </a:ln>
        </p:spPr>
        <p:txBody>
          <a:bodyPr spcFirstLastPara="1" wrap="square" lIns="91425" tIns="91425" rIns="91425" bIns="91425" numCol="3" anchor="t" anchorCtr="0">
            <a:noAutofit/>
          </a:bodyPr>
          <a:lstStyle/>
          <a:p>
            <a:pPr marL="0" indent="0">
              <a:buNone/>
            </a:pPr>
            <a:br>
              <a:rPr lang="en-US" sz="1200" dirty="0">
                <a:solidFill>
                  <a:schemeClr val="tx1">
                    <a:lumMod val="20000"/>
                    <a:lumOff val="80000"/>
                  </a:schemeClr>
                </a:solidFill>
              </a:rPr>
            </a:br>
            <a:r>
              <a:rPr lang="en-US" sz="1400" dirty="0">
                <a:solidFill>
                  <a:schemeClr val="tx1">
                    <a:lumMod val="20000"/>
                    <a:lumOff val="80000"/>
                  </a:schemeClr>
                </a:solidFill>
              </a:rPr>
              <a:t>TCN</a:t>
            </a:r>
            <a:br>
              <a:rPr lang="en-US" sz="1400" dirty="0">
                <a:solidFill>
                  <a:schemeClr val="tx1">
                    <a:lumMod val="20000"/>
                    <a:lumOff val="80000"/>
                  </a:schemeClr>
                </a:solidFill>
              </a:rPr>
            </a:br>
            <a:r>
              <a:rPr lang="en-US" sz="1400" dirty="0">
                <a:solidFill>
                  <a:schemeClr val="tx1">
                    <a:lumMod val="20000"/>
                    <a:lumOff val="80000"/>
                  </a:schemeClr>
                </a:solidFill>
              </a:rPr>
              <a:t>Temporal Convolutional Network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B7F554A-0427-0248-AB4D-E1A4C1C65607}"/>
              </a:ext>
            </a:extLst>
          </p:cNvPr>
          <p:cNvSpPr txBox="1"/>
          <p:nvPr/>
        </p:nvSpPr>
        <p:spPr>
          <a:xfrm>
            <a:off x="2680999" y="4115786"/>
            <a:ext cx="387898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Presenter : Kenji Funaki</a:t>
            </a:r>
          </a:p>
          <a:p>
            <a:pPr algn="ctr"/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US" dirty="0">
                <a:solidFill>
                  <a:schemeClr val="bg1"/>
                </a:solidFill>
              </a:rPr>
              <a:t>May 12</a:t>
            </a:r>
            <a:r>
              <a:rPr lang="en-US" baseline="30000" dirty="0">
                <a:solidFill>
                  <a:schemeClr val="bg1"/>
                </a:solidFill>
              </a:rPr>
              <a:t>th</a:t>
            </a:r>
            <a:r>
              <a:rPr lang="en-US" dirty="0">
                <a:solidFill>
                  <a:schemeClr val="bg1"/>
                </a:solidFill>
              </a:rPr>
              <a:t>  , 2026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02E9E44D-D1D6-B9DB-BE93-FCE17140D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0F74023-907C-6396-AD1C-57864DC9111F}"/>
              </a:ext>
            </a:extLst>
          </p:cNvPr>
          <p:cNvSpPr/>
          <p:nvPr/>
        </p:nvSpPr>
        <p:spPr>
          <a:xfrm>
            <a:off x="1857737" y="4062714"/>
            <a:ext cx="2714263" cy="29152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Google Shape;110;p20">
            <a:extLst>
              <a:ext uri="{FF2B5EF4-FFF2-40B4-BE49-F238E27FC236}">
                <a16:creationId xmlns:a16="http://schemas.microsoft.com/office/drawing/2014/main" id="{9EB8F9C1-26AA-A298-9A3D-8A1041FCA7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01139"/>
            <a:ext cx="8470603" cy="65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400" dirty="0"/>
              <a:t>Alternative Data for Wheat Futures  (TCN Model) :Recap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7B68EA-255A-0E99-5BB0-522968588C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2890" y="652904"/>
            <a:ext cx="7033730" cy="657900"/>
          </a:xfrm>
        </p:spPr>
        <p:txBody>
          <a:bodyPr/>
          <a:lstStyle/>
          <a:p>
            <a:r>
              <a:rPr lang="en-US" sz="1100" dirty="0"/>
              <a:t>Enhance directional prediction of wheat futures by incorporating </a:t>
            </a:r>
            <a:r>
              <a:rPr lang="en-US" sz="1100" b="1" dirty="0"/>
              <a:t>cross-asset and macro alternative data</a:t>
            </a:r>
            <a:r>
              <a:rPr lang="en-US" sz="1100" dirty="0"/>
              <a:t> that capture global economic conditions, risk sentiment, and supply-demand dynamics.</a:t>
            </a:r>
          </a:p>
          <a:p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088F7E1-F40E-4EE9-50F4-990D3FEE2B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383" y="-72152"/>
            <a:ext cx="1124026" cy="7847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304704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lang="en-US" altLang="en-US" sz="1300" b="1" dirty="0">
                <a:solidFill>
                  <a:srgbClr val="366091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 Objective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DB76087A-CDA6-0BD7-B40B-280705A7B8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383" y="789257"/>
            <a:ext cx="3121367" cy="7847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304704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300" b="1" dirty="0">
                <a:solidFill>
                  <a:srgbClr val="366091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2. Selected Alternative Data Features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FA1C741C-1E50-E724-E2A8-568D3F1BFCC3}"/>
              </a:ext>
            </a:extLst>
          </p:cNvPr>
          <p:cNvSpPr txBox="1">
            <a:spLocks/>
          </p:cNvSpPr>
          <p:nvPr/>
        </p:nvSpPr>
        <p:spPr>
          <a:xfrm>
            <a:off x="213458" y="3594461"/>
            <a:ext cx="8930543" cy="10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1800"/>
              <a:buFont typeface="Montserrat"/>
              <a:buChar char="●"/>
              <a:defRPr sz="18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57068C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 sz="1100" dirty="0"/>
              <a:t>DXY: Dollar Index, VIX: Volatility Index, oil, gold and soy.</a:t>
            </a:r>
          </a:p>
          <a:p>
            <a:pPr marL="114300" indent="0">
              <a:buNone/>
            </a:pPr>
            <a:r>
              <a:rPr lang="en-US" sz="1100" b="1" dirty="0">
                <a:solidFill>
                  <a:schemeClr val="accent1">
                    <a:lumMod val="75000"/>
                  </a:schemeClr>
                </a:solidFill>
              </a:rPr>
              <a:t>Still Tuning the model  and methodology </a:t>
            </a:r>
          </a:p>
          <a:p>
            <a:r>
              <a:rPr lang="en-US" sz="900" dirty="0"/>
              <a:t>Validation metrics: </a:t>
            </a:r>
            <a:r>
              <a:rPr lang="en-US" sz="900" b="1" dirty="0">
                <a:solidFill>
                  <a:srgbClr val="C00000"/>
                </a:solidFill>
              </a:rPr>
              <a:t>acc=0.5174 f1_macro=0.5168 </a:t>
            </a:r>
            <a:r>
              <a:rPr lang="en-US" sz="900" b="1" dirty="0" err="1">
                <a:solidFill>
                  <a:srgbClr val="C00000"/>
                </a:solidFill>
              </a:rPr>
              <a:t>roc_auc</a:t>
            </a:r>
            <a:r>
              <a:rPr lang="en-US" sz="900" b="1" dirty="0">
                <a:solidFill>
                  <a:srgbClr val="C00000"/>
                </a:solidFill>
              </a:rPr>
              <a:t>=0.5246</a:t>
            </a:r>
          </a:p>
          <a:p>
            <a:r>
              <a:rPr lang="en-US" sz="900" dirty="0"/>
              <a:t>Validation predictions shape: (1034,)</a:t>
            </a:r>
          </a:p>
          <a:p>
            <a:r>
              <a:rPr lang="en-US" sz="900" dirty="0"/>
              <a:t>Baselines: majority acc=0.5358, f1=0.3489, </a:t>
            </a:r>
            <a:r>
              <a:rPr lang="en-US" sz="900" dirty="0" err="1"/>
              <a:t>auc</a:t>
            </a:r>
            <a:r>
              <a:rPr lang="en-US" sz="900" dirty="0"/>
              <a:t>=0.5000 | momentum acc=0.5019, f1=0.4993, </a:t>
            </a:r>
            <a:r>
              <a:rPr lang="en-US" sz="900" dirty="0" err="1"/>
              <a:t>auc</a:t>
            </a:r>
            <a:r>
              <a:rPr lang="en-US" sz="900" dirty="0"/>
              <a:t>=0.4993</a:t>
            </a:r>
          </a:p>
          <a:p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64961B23-79C5-ED89-1836-34CFCD4FE08B}"/>
              </a:ext>
            </a:extLst>
          </p:cNvPr>
          <p:cNvSpPr txBox="1">
            <a:spLocks/>
          </p:cNvSpPr>
          <p:nvPr/>
        </p:nvSpPr>
        <p:spPr>
          <a:xfrm>
            <a:off x="213458" y="1497314"/>
            <a:ext cx="7283978" cy="883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1800"/>
              <a:buFont typeface="Montserrat"/>
              <a:buChar char="●"/>
              <a:defRPr sz="18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57068C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 sz="1100" dirty="0"/>
              <a:t>We have struggle to find one good datasets and explores some alternative way with the best model, TCN.  </a:t>
            </a:r>
          </a:p>
          <a:p>
            <a:r>
              <a:rPr lang="en-US" sz="1100" dirty="0"/>
              <a:t>We enhance wheat prediction by integrating cross-asset signals (oil, FX, volatility, crops) and compressing macro data into latent factors, enabling TCN to learn nonlinear market regimes.</a:t>
            </a:r>
          </a:p>
          <a:p>
            <a:endParaRPr lang="en-US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4A0835F-6A63-A5F0-8619-D509B6142164}"/>
              </a:ext>
            </a:extLst>
          </p:cNvPr>
          <p:cNvGraphicFramePr>
            <a:graphicFrameLocks noGrp="1"/>
          </p:cNvGraphicFramePr>
          <p:nvPr/>
        </p:nvGraphicFramePr>
        <p:xfrm>
          <a:off x="1453723" y="2631915"/>
          <a:ext cx="4860314" cy="103632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512551">
                  <a:extLst>
                    <a:ext uri="{9D8B030D-6E8A-4147-A177-3AD203B41FA5}">
                      <a16:colId xmlns:a16="http://schemas.microsoft.com/office/drawing/2014/main" val="1964256089"/>
                    </a:ext>
                  </a:extLst>
                </a:gridCol>
                <a:gridCol w="3347763">
                  <a:extLst>
                    <a:ext uri="{9D8B030D-6E8A-4147-A177-3AD203B41FA5}">
                      <a16:colId xmlns:a16="http://schemas.microsoft.com/office/drawing/2014/main" val="278393687"/>
                    </a:ext>
                  </a:extLst>
                </a:gridCol>
              </a:tblGrid>
              <a:tr h="2113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>
                          <a:latin typeface="Montserrat" pitchFamily="2" charset="77"/>
                        </a:rPr>
                        <a:t>Category</a:t>
                      </a:r>
                      <a:endParaRPr lang="en-US" sz="1100">
                        <a:latin typeface="Montserrat" pitchFamily="2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>
                          <a:latin typeface="Montserrat" pitchFamily="2" charset="77"/>
                        </a:rPr>
                        <a:t>Features</a:t>
                      </a:r>
                      <a:endParaRPr lang="en-US" sz="1100">
                        <a:latin typeface="Montserrat" pitchFamily="2" charset="7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9373573"/>
                  </a:ext>
                </a:extLst>
              </a:tr>
              <a:tr h="2113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latin typeface="Montserrat" pitchFamily="2" charset="77"/>
                        </a:rPr>
                        <a:t>Price signals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latin typeface="Montserrat" pitchFamily="2" charset="77"/>
                        </a:rPr>
                        <a:t>returns, volatility, momentum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4495511"/>
                  </a:ext>
                </a:extLst>
              </a:tr>
              <a:tr h="2113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latin typeface="Montserrat" pitchFamily="2" charset="77"/>
                        </a:rPr>
                        <a:t>Alt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latin typeface="Montserrat" pitchFamily="2" charset="77"/>
                        </a:rPr>
                        <a:t>oil, gold, DXY, soy, VIX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6316503"/>
                  </a:ext>
                </a:extLst>
              </a:tr>
              <a:tr h="2181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latin typeface="Montserrat" pitchFamily="2" charset="77"/>
                        </a:rPr>
                        <a:t>Macro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latin typeface="Montserrat" pitchFamily="2" charset="77"/>
                        </a:rPr>
                        <a:t>PCA factors (5)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5719172"/>
                  </a:ext>
                </a:extLst>
              </a:tr>
            </a:tbl>
          </a:graphicData>
        </a:graphic>
      </p:graphicFrame>
      <p:sp>
        <p:nvSpPr>
          <p:cNvPr id="11" name="Rectangle 1">
            <a:extLst>
              <a:ext uri="{FF2B5EF4-FFF2-40B4-BE49-F238E27FC236}">
                <a16:creationId xmlns:a16="http://schemas.microsoft.com/office/drawing/2014/main" id="{849A3EF3-E7CA-6E48-EFC5-5610F3A8CE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4497" y="1862569"/>
            <a:ext cx="6832036" cy="7693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304704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Macro Compression (FAVAR Approach)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31 macro variables → </a:t>
            </a: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PCA (5 factors)</a:t>
            </a:r>
            <a:endParaRPr lang="en-US" sz="1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812E1E-32FB-C68D-B0B8-605F15D1E78F}"/>
              </a:ext>
            </a:extLst>
          </p:cNvPr>
          <p:cNvSpPr txBox="1"/>
          <p:nvPr/>
        </p:nvSpPr>
        <p:spPr>
          <a:xfrm>
            <a:off x="7274187" y="638382"/>
            <a:ext cx="1946336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" dirty="0"/>
              <a:t>RAW DATA</a:t>
            </a:r>
          </a:p>
          <a:p>
            <a:r>
              <a:rPr lang="en-US" sz="700" dirty="0"/>
              <a:t> ├── Wheat Futures (price)</a:t>
            </a:r>
          </a:p>
          <a:p>
            <a:r>
              <a:rPr lang="en-US" sz="700" dirty="0"/>
              <a:t> ├── Alt Data (oil, gold, DXY, soy, VIX)</a:t>
            </a:r>
          </a:p>
          <a:p>
            <a:r>
              <a:rPr lang="en-US" sz="700" dirty="0"/>
              <a:t> └── Macro (31 FRED variables)</a:t>
            </a:r>
          </a:p>
          <a:p>
            <a:r>
              <a:rPr lang="en-US" sz="700" dirty="0"/>
              <a:t>        │</a:t>
            </a:r>
          </a:p>
          <a:p>
            <a:r>
              <a:rPr lang="en-US" sz="700" dirty="0"/>
              <a:t>        ▼</a:t>
            </a:r>
          </a:p>
          <a:p>
            <a:r>
              <a:rPr lang="en-US" sz="700" dirty="0"/>
              <a:t>[1] FEATURE ENGINEERING</a:t>
            </a:r>
          </a:p>
          <a:p>
            <a:r>
              <a:rPr lang="en-US" sz="700" dirty="0"/>
              <a:t> ├── Returns (1d, 3d, 5d)</a:t>
            </a:r>
          </a:p>
          <a:p>
            <a:r>
              <a:rPr lang="en-US" sz="700" dirty="0"/>
              <a:t> ├── Volatility (rolling std)</a:t>
            </a:r>
          </a:p>
          <a:p>
            <a:r>
              <a:rPr lang="en-US" sz="700" dirty="0"/>
              <a:t> ├── Momentum</a:t>
            </a:r>
          </a:p>
          <a:p>
            <a:r>
              <a:rPr lang="en-US" sz="700" dirty="0"/>
              <a:t> └── Alt-data returns + vol</a:t>
            </a:r>
          </a:p>
          <a:p>
            <a:r>
              <a:rPr lang="en-US" sz="700" dirty="0"/>
              <a:t>        │</a:t>
            </a:r>
          </a:p>
          <a:p>
            <a:r>
              <a:rPr lang="en-US" sz="700" dirty="0"/>
              <a:t>        ▼</a:t>
            </a:r>
          </a:p>
          <a:p>
            <a:r>
              <a:rPr lang="en-US" sz="700" dirty="0"/>
              <a:t>[2] MACRO COMPRESSION (PCA)</a:t>
            </a:r>
          </a:p>
          <a:p>
            <a:r>
              <a:rPr lang="en-US" sz="700" dirty="0"/>
              <a:t> ├── Scale macro variables</a:t>
            </a:r>
          </a:p>
          <a:p>
            <a:r>
              <a:rPr lang="en-US" sz="700" dirty="0"/>
              <a:t> ├── Apply PCA → 5 factors</a:t>
            </a:r>
          </a:p>
          <a:p>
            <a:r>
              <a:rPr lang="en-US" sz="700" dirty="0"/>
              <a:t> └── Remove noise / redundancy</a:t>
            </a:r>
          </a:p>
          <a:p>
            <a:r>
              <a:rPr lang="en-US" sz="700" dirty="0"/>
              <a:t>        │</a:t>
            </a:r>
          </a:p>
          <a:p>
            <a:r>
              <a:rPr lang="en-US" sz="700" dirty="0"/>
              <a:t>        ▼</a:t>
            </a:r>
          </a:p>
          <a:p>
            <a:r>
              <a:rPr lang="en-US" sz="700" dirty="0"/>
              <a:t>[3] FEATURE CONCATENATION</a:t>
            </a:r>
          </a:p>
          <a:p>
            <a:r>
              <a:rPr lang="en-US" sz="700" dirty="0"/>
              <a:t> ├── Price features</a:t>
            </a:r>
          </a:p>
          <a:p>
            <a:r>
              <a:rPr lang="en-US" sz="700" dirty="0"/>
              <a:t> ├── Alt features</a:t>
            </a:r>
          </a:p>
          <a:p>
            <a:r>
              <a:rPr lang="en-US" sz="700" dirty="0"/>
              <a:t> └── PCA factors</a:t>
            </a:r>
          </a:p>
          <a:p>
            <a:r>
              <a:rPr lang="en-US" sz="700" dirty="0"/>
              <a:t>        │</a:t>
            </a:r>
          </a:p>
          <a:p>
            <a:r>
              <a:rPr lang="en-US" sz="700" dirty="0"/>
              <a:t>        ▼</a:t>
            </a:r>
          </a:p>
          <a:p>
            <a:r>
              <a:rPr lang="en-US" sz="700" dirty="0"/>
              <a:t>[4] SLIDING WINDOW</a:t>
            </a:r>
          </a:p>
          <a:p>
            <a:r>
              <a:rPr lang="en-US" sz="700" dirty="0"/>
              <a:t> ├── Lookback = 30 days</a:t>
            </a:r>
          </a:p>
          <a:p>
            <a:r>
              <a:rPr lang="en-US" sz="700" dirty="0"/>
              <a:t> └── Shape → (Samples, Time, Features)</a:t>
            </a:r>
          </a:p>
          <a:p>
            <a:r>
              <a:rPr lang="en-US" sz="700" dirty="0"/>
              <a:t>        │</a:t>
            </a:r>
          </a:p>
          <a:p>
            <a:r>
              <a:rPr lang="en-US" sz="700" dirty="0"/>
              <a:t>        ▼</a:t>
            </a:r>
          </a:p>
          <a:p>
            <a:r>
              <a:rPr lang="en-US" sz="700" dirty="0"/>
              <a:t>[5] TCN MODEL</a:t>
            </a:r>
          </a:p>
          <a:p>
            <a:r>
              <a:rPr lang="en-US" sz="700" dirty="0"/>
              <a:t> ├── Causal 1D Convolution</a:t>
            </a:r>
          </a:p>
          <a:p>
            <a:r>
              <a:rPr lang="en-US" sz="700" dirty="0"/>
              <a:t> ├── Dilations (1, 2, 4, 8…)</a:t>
            </a:r>
          </a:p>
          <a:p>
            <a:r>
              <a:rPr lang="en-US" sz="700" dirty="0"/>
              <a:t> ├── Temporal feature extraction</a:t>
            </a:r>
          </a:p>
          <a:p>
            <a:r>
              <a:rPr lang="en-US" sz="700" dirty="0"/>
              <a:t>        │</a:t>
            </a:r>
          </a:p>
          <a:p>
            <a:r>
              <a:rPr lang="en-US" sz="700" dirty="0"/>
              <a:t>        ▼</a:t>
            </a:r>
          </a:p>
          <a:p>
            <a:r>
              <a:rPr lang="en-US" sz="700" dirty="0"/>
              <a:t>[6] CLASSIFIER</a:t>
            </a:r>
          </a:p>
          <a:p>
            <a:r>
              <a:rPr lang="en-US" sz="700" dirty="0"/>
              <a:t> └── Output → Up / Down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9A14D0-82C3-1DCF-5B8E-2630BED801D2}"/>
              </a:ext>
            </a:extLst>
          </p:cNvPr>
          <p:cNvSpPr txBox="1"/>
          <p:nvPr/>
        </p:nvSpPr>
        <p:spPr>
          <a:xfrm>
            <a:off x="1787363" y="450703"/>
            <a:ext cx="5311303" cy="338554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1600" b="1" dirty="0">
                <a:ln/>
                <a:solidFill>
                  <a:srgbClr val="FF0000"/>
                </a:solidFill>
                <a:latin typeface="Montserrat" pitchFamily="2" charset="77"/>
              </a:rPr>
              <a:t>Could Not Beat the Baseline TCN Model Result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DAB617D-4CE4-0799-EF8F-C077C23C2795}"/>
              </a:ext>
            </a:extLst>
          </p:cNvPr>
          <p:cNvCxnSpPr>
            <a:cxnSpLocks/>
            <a:stCxn id="5" idx="2"/>
          </p:cNvCxnSpPr>
          <p:nvPr/>
        </p:nvCxnSpPr>
        <p:spPr>
          <a:xfrm flipH="1">
            <a:off x="3571976" y="789257"/>
            <a:ext cx="871039" cy="32734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968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chemeClr val="tx1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-1158" y="141732"/>
            <a:ext cx="8159606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66091"/>
                </a:solidFill>
                <a:latin typeface="Arial"/>
              </a:defRPr>
            </a:pPr>
            <a:r>
              <a:rPr dirty="0">
                <a:solidFill>
                  <a:schemeClr val="accent1">
                    <a:lumMod val="75000"/>
                  </a:schemeClr>
                </a:solidFill>
              </a:rPr>
              <a:t>1. Alternative Data Update: Narrower, Cleaner, More Honest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864608"/>
            <a:ext cx="8503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96969"/>
                </a:solidFill>
                <a:latin typeface="Arial"/>
              </a:defRPr>
            </a:pPr>
            <a:r>
              <a:t>VIP Forecasting Project | Kenji Funaki | May 2026 | 1/5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2474" y="597997"/>
            <a:ext cx="2377440" cy="32004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rgbClr val="B2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rPr dirty="0"/>
              <a:t>April </a:t>
            </a:r>
            <a:r>
              <a:rPr lang="en-US" dirty="0"/>
              <a:t>I</a:t>
            </a:r>
            <a:r>
              <a:rPr dirty="0"/>
              <a:t>ssue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6981" y="609021"/>
            <a:ext cx="2377440" cy="320040"/>
          </a:xfrm>
          <a:prstGeom prst="roundRect">
            <a:avLst/>
          </a:prstGeom>
          <a:solidFill>
            <a:schemeClr val="tx1">
              <a:lumMod val="75000"/>
            </a:schemeClr>
          </a:solidFill>
          <a:ln>
            <a:solidFill>
              <a:srgbClr val="36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rPr dirty="0"/>
              <a:t>May </a:t>
            </a:r>
            <a:r>
              <a:rPr lang="en-US" dirty="0"/>
              <a:t>Up</a:t>
            </a:r>
            <a:r>
              <a:rPr dirty="0"/>
              <a:t>date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592151"/>
            <a:ext cx="2377440" cy="320040"/>
          </a:xfrm>
          <a:prstGeom prst="roundRect">
            <a:avLst/>
          </a:prstGeom>
          <a:solidFill>
            <a:schemeClr val="accent1"/>
          </a:solidFill>
          <a:ln>
            <a:solidFill>
              <a:srgbClr val="5B9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Interpretation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1496" y="1025760"/>
            <a:ext cx="2893669" cy="104368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171450" indent="-171450">
              <a:spcAft>
                <a:spcPts val="400"/>
              </a:spcAft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1000">
                <a:solidFill>
                  <a:srgbClr val="2D2D2D"/>
                </a:solidFill>
                <a:latin typeface="Arial"/>
              </a:defRPr>
            </a:pPr>
            <a:r>
              <a:rPr dirty="0">
                <a:solidFill>
                  <a:schemeClr val="accent1">
                    <a:lumMod val="75000"/>
                  </a:schemeClr>
                </a:solidFill>
              </a:rPr>
              <a:t>Broad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A</a:t>
            </a:r>
            <a:r>
              <a:rPr dirty="0">
                <a:solidFill>
                  <a:schemeClr val="accent1">
                    <a:lumMod val="75000"/>
                  </a:schemeClr>
                </a:solidFill>
              </a:rPr>
              <a:t>lternative-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D</a:t>
            </a:r>
            <a:r>
              <a:rPr dirty="0">
                <a:solidFill>
                  <a:schemeClr val="accent1">
                    <a:lumMod val="75000"/>
                  </a:schemeClr>
                </a:solidFill>
              </a:rPr>
              <a:t>ata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L</a:t>
            </a:r>
            <a:r>
              <a:rPr dirty="0">
                <a:solidFill>
                  <a:schemeClr val="accent1">
                    <a:lumMod val="75000"/>
                  </a:schemeClr>
                </a:solidFill>
              </a:rPr>
              <a:t>ist was too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N</a:t>
            </a:r>
            <a:r>
              <a:rPr dirty="0">
                <a:solidFill>
                  <a:schemeClr val="accent1">
                    <a:lumMod val="75000"/>
                  </a:schemeClr>
                </a:solidFill>
              </a:rPr>
              <a:t>oisy for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D</a:t>
            </a:r>
            <a:r>
              <a:rPr dirty="0">
                <a:solidFill>
                  <a:schemeClr val="accent1">
                    <a:lumMod val="75000"/>
                  </a:schemeClr>
                </a:solidFill>
              </a:rPr>
              <a:t>aily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D</a:t>
            </a:r>
            <a:r>
              <a:rPr dirty="0">
                <a:solidFill>
                  <a:schemeClr val="accent1">
                    <a:lumMod val="75000"/>
                  </a:schemeClr>
                </a:solidFill>
              </a:rPr>
              <a:t>irection.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1000" b="1" dirty="0">
                <a:solidFill>
                  <a:schemeClr val="accent1">
                    <a:lumMod val="75000"/>
                  </a:schemeClr>
                </a:solidFill>
              </a:rPr>
              <a:t>oil, gold, DXY, soy, VIX</a:t>
            </a:r>
            <a:endParaRPr b="1" dirty="0">
              <a:solidFill>
                <a:schemeClr val="accent1">
                  <a:lumMod val="75000"/>
                </a:schemeClr>
              </a:solidFill>
            </a:endParaRPr>
          </a:p>
          <a:p>
            <a:pPr marL="171450" indent="-171450">
              <a:spcAft>
                <a:spcPts val="400"/>
              </a:spcAft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1000">
                <a:solidFill>
                  <a:srgbClr val="2D2D2D"/>
                </a:solidFill>
                <a:latin typeface="Arial"/>
              </a:defRPr>
            </a:pPr>
            <a:r>
              <a:rPr dirty="0">
                <a:solidFill>
                  <a:schemeClr val="accent1">
                    <a:lumMod val="75000"/>
                  </a:schemeClr>
                </a:solidFill>
              </a:rPr>
              <a:t>Validation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L</a:t>
            </a:r>
            <a:r>
              <a:rPr dirty="0">
                <a:solidFill>
                  <a:schemeClr val="accent1">
                    <a:lumMod val="75000"/>
                  </a:schemeClr>
                </a:solidFill>
              </a:rPr>
              <a:t>ooked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W</a:t>
            </a:r>
            <a:r>
              <a:rPr dirty="0">
                <a:solidFill>
                  <a:schemeClr val="accent1">
                    <a:lumMod val="75000"/>
                  </a:schemeClr>
                </a:solidFill>
              </a:rPr>
              <a:t>eak and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H</a:t>
            </a:r>
            <a:r>
              <a:rPr dirty="0">
                <a:solidFill>
                  <a:schemeClr val="accent1">
                    <a:lumMod val="75000"/>
                  </a:schemeClr>
                </a:solidFill>
              </a:rPr>
              <a:t>ard to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E</a:t>
            </a:r>
            <a:r>
              <a:rPr dirty="0">
                <a:solidFill>
                  <a:schemeClr val="accent1">
                    <a:lumMod val="75000"/>
                  </a:schemeClr>
                </a:solidFill>
              </a:rPr>
              <a:t>xplain.</a:t>
            </a:r>
          </a:p>
          <a:p>
            <a:pPr marL="171450" indent="-171450">
              <a:spcAft>
                <a:spcPts val="400"/>
              </a:spcAft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1000">
                <a:solidFill>
                  <a:srgbClr val="2D2D2D"/>
                </a:solidFill>
                <a:latin typeface="Arial"/>
              </a:defRPr>
            </a:pPr>
            <a:r>
              <a:rPr dirty="0">
                <a:solidFill>
                  <a:schemeClr val="accent1">
                    <a:lumMod val="75000"/>
                  </a:schemeClr>
                </a:solidFill>
              </a:rPr>
              <a:t>Pipeline was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S</a:t>
            </a:r>
            <a:r>
              <a:rPr dirty="0">
                <a:solidFill>
                  <a:schemeClr val="accent1">
                    <a:lumMod val="75000"/>
                  </a:schemeClr>
                </a:solidFill>
              </a:rPr>
              <a:t>till being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T</a:t>
            </a:r>
            <a:r>
              <a:rPr dirty="0">
                <a:solidFill>
                  <a:schemeClr val="accent1">
                    <a:lumMod val="75000"/>
                  </a:schemeClr>
                </a:solidFill>
              </a:rPr>
              <a:t>uned, so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C</a:t>
            </a:r>
            <a:r>
              <a:rPr dirty="0">
                <a:solidFill>
                  <a:schemeClr val="accent1">
                    <a:lumMod val="75000"/>
                  </a:schemeClr>
                </a:solidFill>
              </a:rPr>
              <a:t>laims were not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S</a:t>
            </a:r>
            <a:r>
              <a:rPr dirty="0">
                <a:solidFill>
                  <a:schemeClr val="accent1">
                    <a:lumMod val="75000"/>
                  </a:schemeClr>
                </a:solidFill>
              </a:rPr>
              <a:t>table.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55717" y="980462"/>
            <a:ext cx="3368232" cy="1292313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 marL="171450" indent="-171450">
              <a:spcAft>
                <a:spcPts val="400"/>
              </a:spcAft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1000">
                <a:solidFill>
                  <a:srgbClr val="2D2D2D"/>
                </a:solidFill>
                <a:latin typeface="Arial"/>
              </a:defRPr>
            </a:pPr>
            <a:r>
              <a:rPr sz="10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Focused on </a:t>
            </a:r>
            <a:r>
              <a:rPr lang="en-US" sz="10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E</a:t>
            </a:r>
            <a:r>
              <a:rPr sz="10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conomically </a:t>
            </a:r>
            <a:r>
              <a:rPr lang="en-US" sz="10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M</a:t>
            </a:r>
            <a:r>
              <a:rPr sz="10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otivated </a:t>
            </a:r>
            <a:r>
              <a:rPr lang="en-US" sz="10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D</a:t>
            </a:r>
            <a:r>
              <a:rPr sz="10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aily </a:t>
            </a:r>
            <a:r>
              <a:rPr lang="en-US" sz="10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R</a:t>
            </a:r>
            <a:r>
              <a:rPr sz="10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eturns: </a:t>
            </a:r>
            <a:r>
              <a:rPr lang="en-US" sz="10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Positive Pearson Cor   </a:t>
            </a:r>
            <a:r>
              <a:rPr sz="1000" b="1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corn</a:t>
            </a:r>
            <a:r>
              <a:rPr lang="en-US" sz="1000" b="1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(.5752)</a:t>
            </a:r>
            <a:r>
              <a:rPr sz="1000" b="1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, soy</a:t>
            </a:r>
            <a:r>
              <a:rPr lang="en-US" sz="1000" b="1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(.3626) </a:t>
            </a:r>
          </a:p>
          <a:p>
            <a:pPr marL="171450" lvl="1" indent="-171450">
              <a:spcAft>
                <a:spcPts val="400"/>
              </a:spcAft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1000">
                <a:solidFill>
                  <a:srgbClr val="2D2D2D"/>
                </a:solidFill>
                <a:latin typeface="Arial"/>
              </a:defRPr>
            </a:pPr>
            <a:r>
              <a:rPr lang="en-US" sz="10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Negative Pearson Cor</a:t>
            </a:r>
            <a:r>
              <a:rPr sz="10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 </a:t>
            </a:r>
            <a:r>
              <a:rPr sz="1000" b="1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UUP</a:t>
            </a:r>
            <a:r>
              <a:rPr lang="en-US" sz="1000" b="1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 (-.1174)</a:t>
            </a:r>
            <a:r>
              <a:rPr sz="1000" b="1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, CAD</a:t>
            </a:r>
            <a:r>
              <a:rPr lang="en-US" sz="1000" b="1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 (-.1144)</a:t>
            </a:r>
            <a:r>
              <a:rPr sz="10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.</a:t>
            </a:r>
          </a:p>
          <a:p>
            <a:pPr marL="171450" indent="-171450">
              <a:spcAft>
                <a:spcPts val="400"/>
              </a:spcAft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1000">
                <a:solidFill>
                  <a:srgbClr val="2D2D2D"/>
                </a:solidFill>
                <a:latin typeface="Arial"/>
              </a:defRPr>
            </a:pPr>
            <a:r>
              <a:rPr sz="10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Combined 7 </a:t>
            </a:r>
            <a:r>
              <a:rPr lang="en-US" sz="10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W</a:t>
            </a:r>
            <a:r>
              <a:rPr sz="10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heat </a:t>
            </a:r>
            <a:r>
              <a:rPr lang="en-US" sz="10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F</a:t>
            </a:r>
            <a:r>
              <a:rPr sz="10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eatures + 4 </a:t>
            </a:r>
            <a:r>
              <a:rPr lang="en-US" sz="10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C</a:t>
            </a:r>
            <a:r>
              <a:rPr sz="10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ross-</a:t>
            </a:r>
            <a:r>
              <a:rPr lang="en-US" sz="10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A</a:t>
            </a:r>
            <a:r>
              <a:rPr sz="10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sset </a:t>
            </a:r>
            <a:r>
              <a:rPr lang="en-US" sz="10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R</a:t>
            </a:r>
            <a:r>
              <a:rPr sz="10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eturns.</a:t>
            </a:r>
          </a:p>
          <a:p>
            <a:pPr marL="171450" indent="-171450">
              <a:spcAft>
                <a:spcPts val="400"/>
              </a:spcAft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1000">
                <a:solidFill>
                  <a:srgbClr val="2D2D2D"/>
                </a:solidFill>
                <a:latin typeface="Arial"/>
              </a:defRPr>
            </a:pPr>
            <a:r>
              <a:rPr sz="10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Used </a:t>
            </a:r>
            <a:r>
              <a:rPr lang="en-US" sz="10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T</a:t>
            </a:r>
            <a:r>
              <a:rPr sz="10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rain-</a:t>
            </a:r>
            <a:r>
              <a:rPr lang="en-US" sz="10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F</a:t>
            </a:r>
            <a:r>
              <a:rPr sz="10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old-</a:t>
            </a:r>
            <a:r>
              <a:rPr lang="en-US" sz="10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O</a:t>
            </a:r>
            <a:r>
              <a:rPr sz="10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nly </a:t>
            </a:r>
            <a:r>
              <a:rPr lang="en-US" sz="10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S</a:t>
            </a:r>
            <a:r>
              <a:rPr sz="10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caling and PCA(5), then TCN.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0331" y="1012580"/>
            <a:ext cx="2893669" cy="1106519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marL="171450" indent="-171450">
              <a:spcAft>
                <a:spcPts val="400"/>
              </a:spcAft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1000">
                <a:solidFill>
                  <a:srgbClr val="2D2D2D"/>
                </a:solidFill>
                <a:latin typeface="Arial"/>
              </a:defRPr>
            </a:pPr>
            <a:r>
              <a:rPr sz="1000" dirty="0">
                <a:solidFill>
                  <a:schemeClr val="accent1">
                    <a:lumMod val="75000"/>
                  </a:schemeClr>
                </a:solidFill>
              </a:rPr>
              <a:t>Small </a:t>
            </a:r>
            <a:r>
              <a:rPr lang="en-US" sz="1000" dirty="0">
                <a:solidFill>
                  <a:schemeClr val="accent1">
                    <a:lumMod val="75000"/>
                  </a:schemeClr>
                </a:solidFill>
              </a:rPr>
              <a:t>I</a:t>
            </a:r>
            <a:r>
              <a:rPr sz="1000" dirty="0">
                <a:solidFill>
                  <a:schemeClr val="accent1">
                    <a:lumMod val="75000"/>
                  </a:schemeClr>
                </a:solidFill>
              </a:rPr>
              <a:t>mprovement </a:t>
            </a:r>
            <a:r>
              <a:rPr lang="en-US" sz="1000" dirty="0">
                <a:solidFill>
                  <a:schemeClr val="accent1">
                    <a:lumMod val="75000"/>
                  </a:schemeClr>
                </a:solidFill>
              </a:rPr>
              <a:t>O</a:t>
            </a:r>
            <a:r>
              <a:rPr sz="1000" dirty="0">
                <a:solidFill>
                  <a:schemeClr val="accent1">
                    <a:lumMod val="75000"/>
                  </a:schemeClr>
                </a:solidFill>
              </a:rPr>
              <a:t>ver the TCN </a:t>
            </a:r>
            <a:r>
              <a:rPr lang="en-US" sz="1000" dirty="0">
                <a:solidFill>
                  <a:schemeClr val="accent1">
                    <a:lumMod val="75000"/>
                  </a:schemeClr>
                </a:solidFill>
              </a:rPr>
              <a:t>Baseline</a:t>
            </a:r>
            <a:r>
              <a:rPr sz="1000" dirty="0">
                <a:solidFill>
                  <a:schemeClr val="accent1">
                    <a:lumMod val="75000"/>
                  </a:schemeClr>
                </a:solidFill>
              </a:rPr>
              <a:t>, but </a:t>
            </a:r>
            <a:r>
              <a:rPr lang="en-US" sz="1000" dirty="0">
                <a:solidFill>
                  <a:schemeClr val="accent1">
                    <a:lumMod val="75000"/>
                  </a:schemeClr>
                </a:solidFill>
              </a:rPr>
              <a:t>N</a:t>
            </a:r>
            <a:r>
              <a:rPr sz="1000" dirty="0">
                <a:solidFill>
                  <a:schemeClr val="accent1">
                    <a:lumMod val="75000"/>
                  </a:schemeClr>
                </a:solidFill>
              </a:rPr>
              <a:t>ot a </a:t>
            </a:r>
            <a:r>
              <a:rPr lang="en-US" sz="1000" dirty="0">
                <a:solidFill>
                  <a:schemeClr val="accent1">
                    <a:lumMod val="75000"/>
                  </a:schemeClr>
                </a:solidFill>
              </a:rPr>
              <a:t>S</a:t>
            </a:r>
            <a:r>
              <a:rPr sz="1000" dirty="0">
                <a:solidFill>
                  <a:schemeClr val="accent1">
                    <a:lumMod val="75000"/>
                  </a:schemeClr>
                </a:solidFill>
              </a:rPr>
              <a:t>trong </a:t>
            </a:r>
            <a:r>
              <a:rPr lang="en-US" sz="1000" dirty="0">
                <a:solidFill>
                  <a:schemeClr val="accent1">
                    <a:lumMod val="75000"/>
                  </a:schemeClr>
                </a:solidFill>
              </a:rPr>
              <a:t>S</a:t>
            </a:r>
            <a:r>
              <a:rPr sz="1000" dirty="0">
                <a:solidFill>
                  <a:schemeClr val="accent1">
                    <a:lumMod val="75000"/>
                  </a:schemeClr>
                </a:solidFill>
              </a:rPr>
              <a:t>ignal.</a:t>
            </a:r>
          </a:p>
          <a:p>
            <a:pPr marL="171450" indent="-171450">
              <a:spcAft>
                <a:spcPts val="400"/>
              </a:spcAft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1000">
                <a:solidFill>
                  <a:srgbClr val="2D2D2D"/>
                </a:solidFill>
                <a:latin typeface="Arial"/>
              </a:defRPr>
            </a:pPr>
            <a:r>
              <a:rPr sz="1000" dirty="0">
                <a:solidFill>
                  <a:schemeClr val="accent1">
                    <a:lumMod val="75000"/>
                  </a:schemeClr>
                </a:solidFill>
              </a:rPr>
              <a:t>Larger </a:t>
            </a:r>
            <a:r>
              <a:rPr lang="en-US" sz="1000" dirty="0">
                <a:solidFill>
                  <a:schemeClr val="accent1">
                    <a:lumMod val="75000"/>
                  </a:schemeClr>
                </a:solidFill>
              </a:rPr>
              <a:t>C</a:t>
            </a:r>
            <a:r>
              <a:rPr sz="1000" dirty="0">
                <a:solidFill>
                  <a:schemeClr val="accent1">
                    <a:lumMod val="75000"/>
                  </a:schemeClr>
                </a:solidFill>
              </a:rPr>
              <a:t>ross-</a:t>
            </a:r>
            <a:r>
              <a:rPr lang="en-US" sz="1000" dirty="0">
                <a:solidFill>
                  <a:schemeClr val="accent1">
                    <a:lumMod val="75000"/>
                  </a:schemeClr>
                </a:solidFill>
              </a:rPr>
              <a:t>A</a:t>
            </a:r>
            <a:r>
              <a:rPr sz="1000" dirty="0">
                <a:solidFill>
                  <a:schemeClr val="accent1">
                    <a:lumMod val="75000"/>
                  </a:schemeClr>
                </a:solidFill>
              </a:rPr>
              <a:t>sset + </a:t>
            </a:r>
            <a:r>
              <a:rPr lang="en-US" sz="1000" dirty="0">
                <a:solidFill>
                  <a:schemeClr val="accent1">
                    <a:lumMod val="75000"/>
                  </a:schemeClr>
                </a:solidFill>
              </a:rPr>
              <a:t>M</a:t>
            </a:r>
            <a:r>
              <a:rPr sz="1000" dirty="0">
                <a:solidFill>
                  <a:schemeClr val="accent1">
                    <a:lumMod val="75000"/>
                  </a:schemeClr>
                </a:solidFill>
              </a:rPr>
              <a:t>acro PCA </a:t>
            </a:r>
            <a:r>
              <a:rPr lang="en-US" sz="1000" dirty="0">
                <a:solidFill>
                  <a:schemeClr val="accent1">
                    <a:lumMod val="75000"/>
                  </a:schemeClr>
                </a:solidFill>
              </a:rPr>
              <a:t>P</a:t>
            </a:r>
            <a:r>
              <a:rPr sz="1000" dirty="0">
                <a:solidFill>
                  <a:schemeClr val="accent1">
                    <a:lumMod val="75000"/>
                  </a:schemeClr>
                </a:solidFill>
              </a:rPr>
              <a:t>anel </a:t>
            </a:r>
            <a:r>
              <a:rPr lang="en-US" sz="1000" dirty="0">
                <a:solidFill>
                  <a:schemeClr val="accent1">
                    <a:lumMod val="75000"/>
                  </a:schemeClr>
                </a:solidFill>
              </a:rPr>
              <a:t>U</a:t>
            </a:r>
            <a:r>
              <a:rPr sz="1000" dirty="0">
                <a:solidFill>
                  <a:schemeClr val="accent1">
                    <a:lumMod val="75000"/>
                  </a:schemeClr>
                </a:solidFill>
              </a:rPr>
              <a:t>nderperformed on this </a:t>
            </a:r>
            <a:r>
              <a:rPr lang="en-US" sz="1000" dirty="0">
                <a:solidFill>
                  <a:schemeClr val="accent1">
                    <a:lumMod val="75000"/>
                  </a:schemeClr>
                </a:solidFill>
              </a:rPr>
              <a:t>T</a:t>
            </a:r>
            <a:r>
              <a:rPr sz="1000" dirty="0">
                <a:solidFill>
                  <a:schemeClr val="accent1">
                    <a:lumMod val="75000"/>
                  </a:schemeClr>
                </a:solidFill>
              </a:rPr>
              <a:t>ail.</a:t>
            </a:r>
          </a:p>
          <a:p>
            <a:pPr marL="171450" indent="-171450">
              <a:spcAft>
                <a:spcPts val="400"/>
              </a:spcAft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1000">
                <a:solidFill>
                  <a:srgbClr val="2D2D2D"/>
                </a:solidFill>
                <a:latin typeface="Arial"/>
              </a:defRPr>
            </a:pPr>
            <a:r>
              <a:rPr sz="1000" dirty="0">
                <a:solidFill>
                  <a:schemeClr val="accent1">
                    <a:lumMod val="75000"/>
                  </a:schemeClr>
                </a:solidFill>
              </a:rPr>
              <a:t>The </a:t>
            </a:r>
            <a:r>
              <a:rPr lang="en-US" sz="1000" dirty="0">
                <a:solidFill>
                  <a:schemeClr val="accent1">
                    <a:lumMod val="75000"/>
                  </a:schemeClr>
                </a:solidFill>
              </a:rPr>
              <a:t>U</a:t>
            </a:r>
            <a:r>
              <a:rPr sz="1000" dirty="0">
                <a:solidFill>
                  <a:schemeClr val="accent1">
                    <a:lumMod val="75000"/>
                  </a:schemeClr>
                </a:solidFill>
              </a:rPr>
              <a:t>pdate is better </a:t>
            </a:r>
            <a:r>
              <a:rPr lang="en-US" sz="1000" dirty="0">
                <a:solidFill>
                  <a:schemeClr val="accent1">
                    <a:lumMod val="75000"/>
                  </a:schemeClr>
                </a:solidFill>
              </a:rPr>
              <a:t>F</a:t>
            </a:r>
            <a:r>
              <a:rPr sz="1000" dirty="0">
                <a:solidFill>
                  <a:schemeClr val="accent1">
                    <a:lumMod val="75000"/>
                  </a:schemeClr>
                </a:solidFill>
              </a:rPr>
              <a:t>ramed as an </a:t>
            </a:r>
            <a:r>
              <a:rPr lang="en-US" sz="1000" dirty="0">
                <a:solidFill>
                  <a:schemeClr val="accent1">
                    <a:lumMod val="75000"/>
                  </a:schemeClr>
                </a:solidFill>
              </a:rPr>
              <a:t>A</a:t>
            </a:r>
            <a:r>
              <a:rPr sz="1000" dirty="0">
                <a:solidFill>
                  <a:schemeClr val="accent1">
                    <a:lumMod val="75000"/>
                  </a:schemeClr>
                </a:solidFill>
              </a:rPr>
              <a:t>blation, </a:t>
            </a:r>
            <a:r>
              <a:rPr lang="en-US" sz="1000" dirty="0">
                <a:solidFill>
                  <a:schemeClr val="accent1">
                    <a:lumMod val="75000"/>
                  </a:schemeClr>
                </a:solidFill>
              </a:rPr>
              <a:t>N</a:t>
            </a:r>
            <a:r>
              <a:rPr sz="1000" dirty="0">
                <a:solidFill>
                  <a:schemeClr val="accent1">
                    <a:lumMod val="75000"/>
                  </a:schemeClr>
                </a:solidFill>
              </a:rPr>
              <a:t>ot a </a:t>
            </a:r>
            <a:r>
              <a:rPr lang="en-US" sz="1000" dirty="0">
                <a:solidFill>
                  <a:schemeClr val="accent1">
                    <a:lumMod val="75000"/>
                  </a:schemeClr>
                </a:solidFill>
              </a:rPr>
              <a:t>V</a:t>
            </a:r>
            <a:r>
              <a:rPr sz="1000" dirty="0">
                <a:solidFill>
                  <a:schemeClr val="accent1">
                    <a:lumMod val="75000"/>
                  </a:schemeClr>
                </a:solidFill>
              </a:rPr>
              <a:t>ictory </a:t>
            </a:r>
            <a:r>
              <a:rPr lang="en-US" sz="1000" dirty="0">
                <a:solidFill>
                  <a:schemeClr val="accent1">
                    <a:lumMod val="75000"/>
                  </a:schemeClr>
                </a:solidFill>
              </a:rPr>
              <a:t>L</a:t>
            </a:r>
            <a:r>
              <a:rPr sz="1000" dirty="0">
                <a:solidFill>
                  <a:schemeClr val="accent1">
                    <a:lumMod val="75000"/>
                  </a:schemeClr>
                </a:solidFill>
              </a:rPr>
              <a:t>ap.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9635" y="2226822"/>
            <a:ext cx="7955279" cy="594360"/>
          </a:xfrm>
          <a:prstGeom prst="roundRect">
            <a:avLst/>
          </a:prstGeom>
          <a:solidFill>
            <a:srgbClr val="E1EBF7"/>
          </a:solidFill>
          <a:ln>
            <a:solidFill>
              <a:srgbClr val="36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ctr">
            <a:normAutofit/>
          </a:bodyPr>
          <a:lstStyle/>
          <a:p>
            <a:pPr algn="ctr">
              <a:defRPr sz="1200">
                <a:solidFill>
                  <a:srgbClr val="2D2D2D"/>
                </a:solidFill>
                <a:latin typeface="Arial"/>
              </a:defRPr>
            </a:pPr>
            <a:r>
              <a:rPr dirty="0">
                <a:solidFill>
                  <a:schemeClr val="accent1">
                    <a:lumMod val="75000"/>
                  </a:schemeClr>
                </a:solidFill>
              </a:rPr>
              <a:t>Core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C</a:t>
            </a:r>
            <a:r>
              <a:rPr dirty="0">
                <a:solidFill>
                  <a:schemeClr val="accent1">
                    <a:lumMod val="75000"/>
                  </a:schemeClr>
                </a:solidFill>
              </a:rPr>
              <a:t>hange: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M</a:t>
            </a:r>
            <a:r>
              <a:rPr dirty="0">
                <a:solidFill>
                  <a:schemeClr val="accent1">
                    <a:lumMod val="75000"/>
                  </a:schemeClr>
                </a:solidFill>
              </a:rPr>
              <a:t>ove from '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M</a:t>
            </a:r>
            <a:r>
              <a:rPr dirty="0">
                <a:solidFill>
                  <a:schemeClr val="accent1">
                    <a:lumMod val="75000"/>
                  </a:schemeClr>
                </a:solidFill>
              </a:rPr>
              <a:t>any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P</a:t>
            </a:r>
            <a:r>
              <a:rPr dirty="0">
                <a:solidFill>
                  <a:schemeClr val="accent1">
                    <a:lumMod val="75000"/>
                  </a:schemeClr>
                </a:solidFill>
              </a:rPr>
              <a:t>ossible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A</a:t>
            </a:r>
            <a:r>
              <a:rPr dirty="0">
                <a:solidFill>
                  <a:schemeClr val="accent1">
                    <a:lumMod val="75000"/>
                  </a:schemeClr>
                </a:solidFill>
              </a:rPr>
              <a:t>lternative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D</a:t>
            </a:r>
            <a:r>
              <a:rPr dirty="0">
                <a:solidFill>
                  <a:schemeClr val="accent1">
                    <a:lumMod val="75000"/>
                  </a:schemeClr>
                </a:solidFill>
              </a:rPr>
              <a:t>ata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S</a:t>
            </a:r>
            <a:r>
              <a:rPr dirty="0">
                <a:solidFill>
                  <a:schemeClr val="accent1">
                    <a:lumMod val="75000"/>
                  </a:schemeClr>
                </a:solidFill>
              </a:rPr>
              <a:t>ources' to a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L</a:t>
            </a:r>
            <a:r>
              <a:rPr dirty="0">
                <a:solidFill>
                  <a:schemeClr val="accent1">
                    <a:lumMod val="75000"/>
                  </a:schemeClr>
                </a:solidFill>
              </a:rPr>
              <a:t>eakage-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S</a:t>
            </a:r>
            <a:r>
              <a:rPr dirty="0">
                <a:solidFill>
                  <a:schemeClr val="accent1">
                    <a:lumMod val="75000"/>
                  </a:schemeClr>
                </a:solidFill>
              </a:rPr>
              <a:t>afe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C</a:t>
            </a:r>
            <a:r>
              <a:rPr dirty="0">
                <a:solidFill>
                  <a:schemeClr val="accent1">
                    <a:lumMod val="75000"/>
                  </a:schemeClr>
                </a:solidFill>
              </a:rPr>
              <a:t>omparison of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T</a:t>
            </a:r>
            <a:r>
              <a:rPr dirty="0">
                <a:solidFill>
                  <a:schemeClr val="accent1">
                    <a:lumMod val="75000"/>
                  </a:schemeClr>
                </a:solidFill>
              </a:rPr>
              <a:t>wo PCA-augmented TCN tracks.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0833" y="2859335"/>
            <a:ext cx="7498079" cy="292608"/>
          </a:xfrm>
          <a:prstGeom prst="rect">
            <a:avLst/>
          </a:prstGeom>
          <a:noFill/>
        </p:spPr>
        <p:txBody>
          <a:bodyPr wrap="square">
            <a:normAutofit fontScale="85000" lnSpcReduction="10000"/>
          </a:bodyPr>
          <a:lstStyle/>
          <a:p>
            <a:pPr>
              <a:defRPr sz="1300" b="1">
                <a:solidFill>
                  <a:srgbClr val="366091"/>
                </a:solidFill>
                <a:latin typeface="Arial"/>
              </a:defRPr>
            </a:pPr>
            <a:r>
              <a:rPr dirty="0">
                <a:solidFill>
                  <a:schemeClr val="accent1">
                    <a:lumMod val="75000"/>
                  </a:schemeClr>
                </a:solidFill>
              </a:rPr>
              <a:t>Wheat features + selected cross-asset returns -&gt; fold-safe PCA -&gt; TCN probabilities -&gt; holdout evaluation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CF23F7B3-F9DE-A4AB-CA5B-90FEEE9534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1846490"/>
              </p:ext>
            </p:extLst>
          </p:nvPr>
        </p:nvGraphicFramePr>
        <p:xfrm>
          <a:off x="422474" y="3207799"/>
          <a:ext cx="8092440" cy="1216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6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212"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chemeClr val="bg1"/>
                          </a:solidFill>
                          <a:latin typeface="Montserrat" pitchFamily="2" charset="77"/>
                        </a:rPr>
                        <a:t>Pipeline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chemeClr val="bg1"/>
                          </a:solidFill>
                          <a:latin typeface="Montserrat" pitchFamily="2" charset="77"/>
                        </a:rPr>
                        <a:t>Acc.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chemeClr val="bg1"/>
                          </a:solidFill>
                          <a:latin typeface="Montserrat" pitchFamily="2" charset="77"/>
                        </a:rPr>
                        <a:t>ROC-AUC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chemeClr val="bg1"/>
                          </a:solidFill>
                          <a:latin typeface="Montserrat" pitchFamily="2" charset="77"/>
                        </a:rPr>
                        <a:t>F1_M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212">
                <a:tc>
                  <a:txBody>
                    <a:bodyPr/>
                    <a:lstStyle/>
                    <a:p>
                      <a:pPr algn="l"/>
                      <a:r>
                        <a:rPr sz="1050" b="0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Montserrat" pitchFamily="2" charset="77"/>
                        </a:rPr>
                        <a:t>TCN</a:t>
                      </a:r>
                      <a:r>
                        <a:rPr lang="en-US" sz="1050" b="0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Montserrat" pitchFamily="2" charset="77"/>
                        </a:rPr>
                        <a:t> Baseline</a:t>
                      </a:r>
                      <a:r>
                        <a:rPr sz="1050" b="0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Montserrat" pitchFamily="2" charset="77"/>
                        </a:rPr>
                        <a:t> </a:t>
                      </a:r>
                      <a:r>
                        <a:rPr lang="en-US" sz="1050" b="0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Montserrat" pitchFamily="2" charset="77"/>
                        </a:rPr>
                        <a:t>R</a:t>
                      </a:r>
                      <a:r>
                        <a:rPr sz="1050" b="0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Montserrat" pitchFamily="2" charset="77"/>
                        </a:rPr>
                        <a:t>eference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Montserrat" pitchFamily="2" charset="77"/>
                        </a:rPr>
                        <a:t>0.541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Montserrat" pitchFamily="2" charset="77"/>
                        </a:rPr>
                        <a:t>0.526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Montserrat" pitchFamily="2" charset="77"/>
                        </a:rPr>
                        <a:t>0.541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212">
                <a:tc>
                  <a:txBody>
                    <a:bodyPr/>
                    <a:lstStyle/>
                    <a:p>
                      <a:pPr algn="l"/>
                      <a:r>
                        <a:rPr sz="1050" b="0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Montserrat" pitchFamily="2" charset="77"/>
                        </a:rPr>
                        <a:t>TCN_PCA_WHEAT_ONLY: 7 wheat + corn/soy/UUP/CAD returns, PCA(5)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Montserrat" pitchFamily="2" charset="77"/>
                        </a:rPr>
                        <a:t>0.543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Montserrat" pitchFamily="2" charset="77"/>
                        </a:rPr>
                        <a:t>0.506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Montserrat" pitchFamily="2" charset="77"/>
                        </a:rPr>
                        <a:t>0.508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21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Montserrat" pitchFamily="2" charset="77"/>
                        </a:rPr>
                        <a:t>TCN_PCA: Yahoo overlay + FRED-MD + 4 returns -&gt; macro PCA(5)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Montserrat" pitchFamily="2" charset="77"/>
                        </a:rPr>
                        <a:t>0.482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Montserrat" pitchFamily="2" charset="77"/>
                        </a:rPr>
                        <a:t>0.501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Montserrat" pitchFamily="2" charset="77"/>
                        </a:rPr>
                        <a:t>0.463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F7C37E92-9C21-D3BA-A75B-0DE0D374A15B}"/>
              </a:ext>
            </a:extLst>
          </p:cNvPr>
          <p:cNvSpPr txBox="1"/>
          <p:nvPr/>
        </p:nvSpPr>
        <p:spPr>
          <a:xfrm>
            <a:off x="964751" y="4467486"/>
            <a:ext cx="800100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00" b="0">
                <a:solidFill>
                  <a:srgbClr val="696969"/>
                </a:solidFill>
                <a:latin typeface="Arial"/>
              </a:defRPr>
            </a:pPr>
            <a:r>
              <a:rPr dirty="0"/>
              <a:t>Replay: Adam LR=1e-6, 50 epochs, channels {128,64}, Apple MPS; terminal 15% chronological holdout; threshold 0.5 for Acc.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8031" y="114300"/>
            <a:ext cx="6545382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66091"/>
                </a:solidFill>
                <a:latin typeface="Arial"/>
              </a:defRPr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2</a:t>
            </a:r>
            <a:r>
              <a:rPr dirty="0">
                <a:solidFill>
                  <a:schemeClr val="accent1">
                    <a:lumMod val="75000"/>
                  </a:schemeClr>
                </a:solidFill>
              </a:rPr>
              <a:t>. Strategy Needs Probabilities and Uncertainty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864608"/>
            <a:ext cx="8503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96969"/>
                </a:solidFill>
                <a:latin typeface="Arial"/>
              </a:defRPr>
            </a:pPr>
            <a:r>
              <a:t>VIP Forecasting Project | Kenji Funaki | May 2026 | 3/5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017" y="806756"/>
            <a:ext cx="4543293" cy="1920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171450" indent="-171450">
              <a:spcAft>
                <a:spcPts val="400"/>
              </a:spcAft>
              <a:buClr>
                <a:schemeClr val="accent1">
                  <a:lumMod val="75000"/>
                </a:schemeClr>
              </a:buClr>
              <a:buFont typeface="Wingdings" pitchFamily="2" charset="2"/>
              <a:buChar char="v"/>
              <a:defRPr sz="1100">
                <a:solidFill>
                  <a:srgbClr val="2D2D2D"/>
                </a:solidFill>
                <a:latin typeface="Arial"/>
              </a:defRPr>
            </a:pP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Investment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O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verlay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C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onsumes P(up),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N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ot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J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ust a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H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ard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U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p/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D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own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L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abel.</a:t>
            </a:r>
          </a:p>
          <a:p>
            <a:pPr marL="171450" indent="-171450">
              <a:spcAft>
                <a:spcPts val="400"/>
              </a:spcAft>
              <a:buClr>
                <a:schemeClr val="accent1">
                  <a:lumMod val="75000"/>
                </a:schemeClr>
              </a:buClr>
              <a:buFont typeface="Wingdings" pitchFamily="2" charset="2"/>
              <a:buChar char="v"/>
              <a:defRPr sz="1100">
                <a:solidFill>
                  <a:srgbClr val="2D2D2D"/>
                </a:solidFill>
                <a:latin typeface="Arial"/>
              </a:defRPr>
            </a:pP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A TCN can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R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ank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D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ays, but a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S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ingle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P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robability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D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oes not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S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how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U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ncertainty.</a:t>
            </a:r>
          </a:p>
          <a:p>
            <a:pPr marL="171450" indent="-171450">
              <a:spcAft>
                <a:spcPts val="400"/>
              </a:spcAft>
              <a:buClr>
                <a:schemeClr val="accent1">
                  <a:lumMod val="75000"/>
                </a:schemeClr>
              </a:buClr>
              <a:buFont typeface="Wingdings" pitchFamily="2" charset="2"/>
              <a:buChar char="v"/>
              <a:defRPr sz="1100">
                <a:solidFill>
                  <a:srgbClr val="2D2D2D"/>
                </a:solidFill>
                <a:latin typeface="Arial"/>
              </a:defRPr>
            </a:pP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Bayesian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L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ogistic MCM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C(Markov Chain Monte Carlo)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 gives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P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osterior-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M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ean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P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robabilities and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D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ispersion.</a:t>
            </a:r>
          </a:p>
          <a:p>
            <a:pPr marL="171450" indent="-171450">
              <a:spcAft>
                <a:spcPts val="400"/>
              </a:spcAft>
              <a:buClr>
                <a:schemeClr val="accent1">
                  <a:lumMod val="75000"/>
                </a:schemeClr>
              </a:buClr>
              <a:buFont typeface="Wingdings" pitchFamily="2" charset="2"/>
              <a:buChar char="v"/>
              <a:defRPr sz="1100">
                <a:solidFill>
                  <a:srgbClr val="2D2D2D"/>
                </a:solidFill>
                <a:latin typeface="Arial"/>
              </a:defRPr>
            </a:pP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This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S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upplements the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S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trategy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L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ayer;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I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t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I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s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N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ot the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C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hampion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F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orecaster.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0732991"/>
              </p:ext>
            </p:extLst>
          </p:nvPr>
        </p:nvGraphicFramePr>
        <p:xfrm>
          <a:off x="566928" y="2852928"/>
          <a:ext cx="3900899" cy="841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80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76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76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76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0416"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chemeClr val="bg1"/>
                          </a:solidFill>
                          <a:latin typeface="Montserrat" pitchFamily="2" charset="77"/>
                        </a:rPr>
                        <a:t>Model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chemeClr val="bg1"/>
                          </a:solidFill>
                          <a:latin typeface="Montserrat" pitchFamily="2" charset="77"/>
                        </a:rPr>
                        <a:t>Acc.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chemeClr val="bg1"/>
                          </a:solidFill>
                          <a:latin typeface="Montserrat" pitchFamily="2" charset="77"/>
                        </a:rPr>
                        <a:t>AUC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chemeClr val="bg1"/>
                          </a:solidFill>
                          <a:latin typeface="Montserrat" pitchFamily="2" charset="77"/>
                        </a:rPr>
                        <a:t>Brier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416">
                <a:tc>
                  <a:txBody>
                    <a:bodyPr/>
                    <a:lstStyle/>
                    <a:p>
                      <a:pPr algn="l"/>
                      <a:r>
                        <a:rPr sz="1050" b="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Montserrat" pitchFamily="2" charset="77"/>
                        </a:rPr>
                        <a:t>MLE </a:t>
                      </a:r>
                      <a:r>
                        <a:rPr lang="en-US" sz="1050" b="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Montserrat" pitchFamily="2" charset="77"/>
                        </a:rPr>
                        <a:t>L</a:t>
                      </a:r>
                      <a:r>
                        <a:rPr sz="1050" b="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Montserrat" pitchFamily="2" charset="77"/>
                        </a:rPr>
                        <a:t>ogit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Montserrat" pitchFamily="2" charset="77"/>
                        </a:rPr>
                        <a:t>0.500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Montserrat" pitchFamily="2" charset="77"/>
                        </a:rPr>
                        <a:t>0.509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Montserrat" pitchFamily="2" charset="77"/>
                        </a:rPr>
                        <a:t>0.255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416">
                <a:tc>
                  <a:txBody>
                    <a:bodyPr/>
                    <a:lstStyle/>
                    <a:p>
                      <a:pPr algn="l"/>
                      <a:r>
                        <a:rPr sz="1050" b="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Montserrat" pitchFamily="2" charset="77"/>
                        </a:rPr>
                        <a:t>Bayes </a:t>
                      </a:r>
                      <a:r>
                        <a:rPr lang="en-US" sz="1050" b="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Montserrat" pitchFamily="2" charset="77"/>
                        </a:rPr>
                        <a:t>M</a:t>
                      </a:r>
                      <a:r>
                        <a:rPr sz="1050" b="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Montserrat" pitchFamily="2" charset="77"/>
                        </a:rPr>
                        <a:t>ean 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Montserrat" pitchFamily="2" charset="77"/>
                        </a:rPr>
                        <a:t>0.542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Montserrat" pitchFamily="2" charset="77"/>
                        </a:rPr>
                        <a:t>0.508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Montserrat" pitchFamily="2" charset="77"/>
                        </a:rPr>
                        <a:t>0.249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29768" y="4153460"/>
            <a:ext cx="3520440" cy="54864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36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ctr">
            <a:normAutofit/>
          </a:bodyPr>
          <a:lstStyle/>
          <a:p>
            <a:pPr algn="ctr">
              <a:defRPr sz="1000">
                <a:solidFill>
                  <a:srgbClr val="2D2D2D"/>
                </a:solidFill>
                <a:latin typeface="Arial"/>
              </a:defRPr>
            </a:pPr>
            <a:r>
              <a:rPr dirty="0">
                <a:solidFill>
                  <a:schemeClr val="accent1">
                    <a:lumMod val="75000"/>
                  </a:schemeClr>
                </a:solidFill>
              </a:rPr>
              <a:t>MCMC role: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E</a:t>
            </a:r>
            <a:r>
              <a:rPr dirty="0">
                <a:solidFill>
                  <a:schemeClr val="accent1">
                    <a:lumMod val="75000"/>
                  </a:schemeClr>
                </a:solidFill>
              </a:rPr>
              <a:t>xpose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C</a:t>
            </a:r>
            <a:r>
              <a:rPr dirty="0">
                <a:solidFill>
                  <a:schemeClr val="accent1">
                    <a:lumMod val="75000"/>
                  </a:schemeClr>
                </a:solidFill>
              </a:rPr>
              <a:t>alibration and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U</a:t>
            </a:r>
            <a:r>
              <a:rPr dirty="0">
                <a:solidFill>
                  <a:schemeClr val="accent1">
                    <a:lumMod val="75000"/>
                  </a:schemeClr>
                </a:solidFill>
              </a:rPr>
              <a:t>ncertainty for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T</a:t>
            </a:r>
            <a:r>
              <a:rPr b="1" dirty="0">
                <a:solidFill>
                  <a:schemeClr val="accent1">
                    <a:lumMod val="75000"/>
                  </a:schemeClr>
                </a:solidFill>
              </a:rPr>
              <a:t>hreshold-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A</a:t>
            </a:r>
            <a:r>
              <a:rPr b="1" dirty="0">
                <a:solidFill>
                  <a:schemeClr val="accent1">
                    <a:lumMod val="75000"/>
                  </a:schemeClr>
                </a:solidFill>
              </a:rPr>
              <a:t>ware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L</a:t>
            </a:r>
            <a:r>
              <a:rPr b="1" dirty="0">
                <a:solidFill>
                  <a:schemeClr val="accent1">
                    <a:lumMod val="75000"/>
                  </a:schemeClr>
                </a:solidFill>
              </a:rPr>
              <a:t>ong-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F</a:t>
            </a:r>
            <a:r>
              <a:rPr b="1" dirty="0">
                <a:solidFill>
                  <a:schemeClr val="accent1">
                    <a:lumMod val="75000"/>
                  </a:schemeClr>
                </a:solidFill>
              </a:rPr>
              <a:t>lat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R</a:t>
            </a:r>
            <a:r>
              <a:rPr b="1" dirty="0">
                <a:solidFill>
                  <a:schemeClr val="accent1">
                    <a:lumMod val="75000"/>
                  </a:schemeClr>
                </a:solidFill>
              </a:rPr>
              <a:t>ules.</a:t>
            </a:r>
          </a:p>
        </p:txBody>
      </p:sp>
      <p:pic>
        <p:nvPicPr>
          <p:cNvPr id="8" name="Picture 7" descr="bayes_mcmc_roc_holdo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3173" y="510136"/>
            <a:ext cx="1920240" cy="1920240"/>
          </a:xfrm>
          <a:prstGeom prst="rect">
            <a:avLst/>
          </a:prstGeom>
        </p:spPr>
      </p:pic>
      <p:pic>
        <p:nvPicPr>
          <p:cNvPr id="9" name="Picture 8" descr="bayes_mcmc_calibration_holdo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2547" y="541580"/>
            <a:ext cx="1920240" cy="1920240"/>
          </a:xfrm>
          <a:prstGeom prst="rect">
            <a:avLst/>
          </a:prstGeom>
        </p:spPr>
      </p:pic>
      <p:pic>
        <p:nvPicPr>
          <p:cNvPr id="10" name="Picture 9" descr="bayes_mcmc_predictive_uncertainty_holdou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4899" y="2389632"/>
            <a:ext cx="3615267" cy="23124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88007" y="4555796"/>
            <a:ext cx="4069080" cy="292608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>
              <a:defRPr sz="800" b="0">
                <a:solidFill>
                  <a:srgbClr val="696969"/>
                </a:solidFill>
                <a:latin typeface="Arial"/>
              </a:defRPr>
            </a:pPr>
            <a:r>
              <a:t>Default design: same wheat + cross-asset PCA inputs as TCN_PCA_WHEAT_ONLY, flattened into a linear Bayesian logit.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chemeClr val="tx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100110"/>
            <a:ext cx="7805342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66091"/>
                </a:solidFill>
                <a:latin typeface="Arial"/>
              </a:defRPr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3</a:t>
            </a:r>
            <a:r>
              <a:rPr dirty="0">
                <a:solidFill>
                  <a:schemeClr val="accent1">
                    <a:lumMod val="75000"/>
                  </a:schemeClr>
                </a:solidFill>
              </a:rPr>
              <a:t>. Investment Strategy: Tactical Long-Flat Holdout Proxy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864608"/>
            <a:ext cx="8503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96969"/>
                </a:solidFill>
                <a:latin typeface="Arial"/>
              </a:defRPr>
            </a:pPr>
            <a:r>
              <a:t>VIP Forecasting Project | Kenji Funaki | May 2026 | 4/5</a:t>
            </a:r>
          </a:p>
        </p:txBody>
      </p:sp>
      <p:pic>
        <p:nvPicPr>
          <p:cNvPr id="5" name="Picture 4" descr="pipeline_tcn_pca_mcmc_strateg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3906"/>
            <a:ext cx="3564423" cy="436070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40480" y="551907"/>
            <a:ext cx="5176198" cy="1325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171450" indent="-171450">
              <a:spcAft>
                <a:spcPts val="400"/>
              </a:spcAft>
              <a:buClr>
                <a:schemeClr val="accent1">
                  <a:lumMod val="75000"/>
                </a:schemeClr>
              </a:buClr>
              <a:buFont typeface="Wingdings" pitchFamily="2" charset="2"/>
              <a:buChar char="v"/>
              <a:defRPr sz="1100">
                <a:solidFill>
                  <a:srgbClr val="2D2D2D"/>
                </a:solidFill>
                <a:latin typeface="Arial"/>
              </a:defRPr>
            </a:pP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Retrain TCN_PCA_WHEAT_ONLY on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T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rain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 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+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 V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alidation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O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nly.</a:t>
            </a:r>
          </a:p>
          <a:p>
            <a:pPr marL="171450" indent="-171450">
              <a:spcAft>
                <a:spcPts val="400"/>
              </a:spcAft>
              <a:buClr>
                <a:schemeClr val="accent1">
                  <a:lumMod val="75000"/>
                </a:schemeClr>
              </a:buClr>
              <a:buFont typeface="Wingdings" pitchFamily="2" charset="2"/>
              <a:buChar char="v"/>
              <a:defRPr sz="1100">
                <a:solidFill>
                  <a:srgbClr val="2D2D2D"/>
                </a:solidFill>
                <a:latin typeface="Arial"/>
              </a:defRPr>
            </a:pP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Score the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T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erminal 15%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H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oldout with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P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redicted P(up).</a:t>
            </a:r>
          </a:p>
          <a:p>
            <a:pPr marL="171450" indent="-171450">
              <a:spcAft>
                <a:spcPts val="400"/>
              </a:spcAft>
              <a:buClr>
                <a:schemeClr val="accent1">
                  <a:lumMod val="75000"/>
                </a:schemeClr>
              </a:buClr>
              <a:buFont typeface="Wingdings" pitchFamily="2" charset="2"/>
              <a:buChar char="v"/>
              <a:defRPr sz="1100">
                <a:solidFill>
                  <a:srgbClr val="2D2D2D"/>
                </a:solidFill>
                <a:latin typeface="Arial"/>
              </a:defRPr>
            </a:pP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Go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L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ong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O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nly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W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hen P(up)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C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lears a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H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urdle;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O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therwise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S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tay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F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lat.</a:t>
            </a:r>
          </a:p>
          <a:p>
            <a:pPr marL="171450" indent="-171450">
              <a:spcAft>
                <a:spcPts val="400"/>
              </a:spcAft>
              <a:buClr>
                <a:schemeClr val="accent1">
                  <a:lumMod val="75000"/>
                </a:schemeClr>
              </a:buClr>
              <a:buFont typeface="Wingdings" pitchFamily="2" charset="2"/>
              <a:buChar char="v"/>
              <a:defRPr sz="1100">
                <a:solidFill>
                  <a:srgbClr val="2D2D2D"/>
                </a:solidFill>
                <a:latin typeface="Arial"/>
              </a:defRPr>
            </a:pP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Proxy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O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nly: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N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o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C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ommissions,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R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olls,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M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argin,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O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ptions,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S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lippage,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 Storage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 or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L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ive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O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rder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T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iming.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9778404"/>
              </p:ext>
            </p:extLst>
          </p:nvPr>
        </p:nvGraphicFramePr>
        <p:xfrm>
          <a:off x="3472983" y="1898698"/>
          <a:ext cx="5440680" cy="17971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9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39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6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67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67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67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3480"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rgbClr val="FFFFFF"/>
                          </a:solidFill>
                          <a:latin typeface="Montserrat" pitchFamily="2" charset="77"/>
                        </a:rPr>
                        <a:t>Rule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rgbClr val="FFFFFF"/>
                          </a:solidFill>
                          <a:latin typeface="Montserrat" pitchFamily="2" charset="77"/>
                        </a:rPr>
                        <a:t>Tot. ret.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rgbClr val="FFFFFF"/>
                          </a:solidFill>
                          <a:latin typeface="Montserrat" pitchFamily="2" charset="77"/>
                        </a:rPr>
                        <a:t>Vol.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rgbClr val="FFFFFF"/>
                          </a:solidFill>
                          <a:latin typeface="Montserrat" pitchFamily="2" charset="77"/>
                        </a:rPr>
                        <a:t>Sharpe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rgbClr val="FFFFFF"/>
                          </a:solidFill>
                          <a:latin typeface="Montserrat" pitchFamily="2" charset="77"/>
                        </a:rPr>
                        <a:t>Max DD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rgbClr val="FFFFFF"/>
                          </a:solidFill>
                          <a:latin typeface="Montserrat" pitchFamily="2" charset="77"/>
                        </a:rPr>
                        <a:t>% </a:t>
                      </a: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ontserrat" pitchFamily="2" charset="77"/>
                        </a:rPr>
                        <a:t>L</a:t>
                      </a:r>
                      <a:r>
                        <a:rPr sz="1050" b="1" dirty="0">
                          <a:solidFill>
                            <a:srgbClr val="FFFFFF"/>
                          </a:solidFill>
                          <a:latin typeface="Montserrat" pitchFamily="2" charset="77"/>
                        </a:rPr>
                        <a:t>ong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72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Arial"/>
                        </a:rPr>
                        <a:t>Buy-and-hold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Arial"/>
                        </a:rPr>
                        <a:t>-0.468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Arial"/>
                        </a:rPr>
                        <a:t>0.319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Arial"/>
                        </a:rPr>
                        <a:t>-0.36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Arial"/>
                        </a:rPr>
                        <a:t>-0.613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Arial"/>
                        </a:rPr>
                        <a:t>1.00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729"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Arial"/>
                        </a:rPr>
                        <a:t>P &gt;= 0.52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Arial"/>
                        </a:rPr>
                        <a:t>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Arial"/>
                        </a:rPr>
                        <a:t>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Arial"/>
                        </a:rPr>
                        <a:t>--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Arial"/>
                        </a:rPr>
                        <a:t>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Arial"/>
                        </a:rP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72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Arial"/>
                        </a:rPr>
                        <a:t>P &gt;= 0.50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Arial"/>
                        </a:rPr>
                        <a:t>0.009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Arial"/>
                        </a:rPr>
                        <a:t>0.005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Arial"/>
                        </a:rPr>
                        <a:t>0.51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Arial"/>
                        </a:rPr>
                        <a:t>0.000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Arial"/>
                        </a:rPr>
                        <a:t>0.001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872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Arial"/>
                        </a:rPr>
                        <a:t>P &gt;= tau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Arial"/>
                        </a:rPr>
                        <a:t>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Arial"/>
                        </a:rPr>
                        <a:t>0.217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Arial"/>
                        </a:rPr>
                        <a:t>0.11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Arial"/>
                        </a:rPr>
                        <a:t>-0.400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Arial"/>
                        </a:rPr>
                        <a:t>0.42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872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Arial"/>
                        </a:rPr>
                        <a:t>Momentum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Arial"/>
                        </a:rPr>
                        <a:t>-0.155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Arial"/>
                        </a:rPr>
                        <a:t>0.211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Arial"/>
                        </a:rPr>
                        <a:t>-0.11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Arial"/>
                        </a:rPr>
                        <a:t>-0.399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Arial"/>
                        </a:rPr>
                        <a:t>0.46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3564423" y="3902056"/>
            <a:ext cx="5349240" cy="669943"/>
          </a:xfrm>
          <a:prstGeom prst="roundRect">
            <a:avLst/>
          </a:prstGeom>
          <a:solidFill>
            <a:schemeClr val="tx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ctr">
            <a:normAutofit/>
          </a:bodyPr>
          <a:lstStyle/>
          <a:p>
            <a:pPr>
              <a:defRPr sz="900">
                <a:solidFill>
                  <a:srgbClr val="2D2D2D"/>
                </a:solidFill>
                <a:latin typeface="Arial"/>
              </a:defRPr>
            </a:pPr>
            <a:r>
              <a:rPr sz="1050" b="1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Interpretation:</a:t>
            </a:r>
            <a:r>
              <a:rPr sz="105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 </a:t>
            </a:r>
            <a:r>
              <a:rPr lang="en-US" sz="105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O</a:t>
            </a:r>
            <a:r>
              <a:rPr sz="105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n </a:t>
            </a:r>
            <a:r>
              <a:rPr lang="en-US" sz="105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O</a:t>
            </a:r>
            <a:r>
              <a:rPr sz="105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ne </a:t>
            </a:r>
            <a:r>
              <a:rPr lang="en-US" sz="105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B</a:t>
            </a:r>
            <a:r>
              <a:rPr sz="105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earish </a:t>
            </a:r>
            <a:r>
              <a:rPr lang="en-US" sz="105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H</a:t>
            </a:r>
            <a:r>
              <a:rPr sz="105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oldout </a:t>
            </a:r>
            <a:r>
              <a:rPr lang="en-US" sz="105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T</a:t>
            </a:r>
            <a:r>
              <a:rPr sz="105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ail, </a:t>
            </a:r>
            <a:r>
              <a:rPr lang="en-US" sz="105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S</a:t>
            </a:r>
            <a:r>
              <a:rPr sz="105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itting </a:t>
            </a:r>
            <a:r>
              <a:rPr lang="en-US" sz="105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O</a:t>
            </a:r>
            <a:r>
              <a:rPr sz="105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ut </a:t>
            </a:r>
            <a:r>
              <a:rPr lang="en-US" sz="105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P</a:t>
            </a:r>
            <a:r>
              <a:rPr sz="105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art of the </a:t>
            </a:r>
            <a:r>
              <a:rPr lang="en-US" sz="105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D</a:t>
            </a:r>
            <a:r>
              <a:rPr sz="105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ecline </a:t>
            </a:r>
            <a:r>
              <a:rPr lang="en-US" sz="105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R</a:t>
            </a:r>
            <a:r>
              <a:rPr sz="105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educed </a:t>
            </a:r>
            <a:r>
              <a:rPr lang="en-US" sz="105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D</a:t>
            </a:r>
            <a:r>
              <a:rPr sz="105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rawdown </a:t>
            </a:r>
            <a:r>
              <a:rPr lang="en-US" sz="105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V</a:t>
            </a:r>
            <a:r>
              <a:rPr sz="105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ersus </a:t>
            </a:r>
            <a:r>
              <a:rPr lang="en-US" sz="105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F</a:t>
            </a:r>
            <a:r>
              <a:rPr sz="105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ull </a:t>
            </a:r>
            <a:r>
              <a:rPr lang="en-US" sz="105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E</a:t>
            </a:r>
            <a:r>
              <a:rPr sz="105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xposure. This is </a:t>
            </a:r>
            <a:r>
              <a:rPr lang="en-US" sz="105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R</a:t>
            </a:r>
            <a:r>
              <a:rPr sz="105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isk </a:t>
            </a:r>
            <a:r>
              <a:rPr lang="en-US" sz="105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M</a:t>
            </a:r>
            <a:r>
              <a:rPr sz="105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anagement </a:t>
            </a:r>
            <a:r>
              <a:rPr lang="en-US" sz="105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E</a:t>
            </a:r>
            <a:r>
              <a:rPr sz="105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vidence, </a:t>
            </a:r>
            <a:r>
              <a:rPr lang="en-US" sz="105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N</a:t>
            </a:r>
            <a:r>
              <a:rPr sz="105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ot </a:t>
            </a:r>
            <a:r>
              <a:rPr lang="en-US" sz="105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P</a:t>
            </a:r>
            <a:r>
              <a:rPr sz="105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roof of </a:t>
            </a:r>
            <a:r>
              <a:rPr lang="en-US" sz="105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A</a:t>
            </a:r>
            <a:r>
              <a:rPr sz="105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lpha.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4208203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66091"/>
                </a:solidFill>
                <a:latin typeface="Arial"/>
              </a:defRPr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4</a:t>
            </a:r>
            <a:r>
              <a:rPr dirty="0">
                <a:solidFill>
                  <a:schemeClr val="accent1">
                    <a:lumMod val="75000"/>
                  </a:schemeClr>
                </a:solidFill>
              </a:rPr>
              <a:t>.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Discussion and </a:t>
            </a:r>
            <a:r>
              <a:rPr dirty="0">
                <a:solidFill>
                  <a:schemeClr val="accent1">
                    <a:lumMod val="75000"/>
                  </a:schemeClr>
                </a:solidFill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864608"/>
            <a:ext cx="8503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96969"/>
                </a:solidFill>
                <a:latin typeface="Arial"/>
              </a:defRPr>
            </a:pPr>
            <a:r>
              <a:t>VIP Forecasting Project | Kenji Funaki | May 2026 | 5/5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379" y="798606"/>
            <a:ext cx="4208203" cy="430887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rPr sz="1200" dirty="0">
                <a:latin typeface="Montserrat" pitchFamily="2" charset="77"/>
              </a:rPr>
              <a:t>What I </a:t>
            </a:r>
            <a:r>
              <a:rPr lang="en-US" sz="1200" dirty="0">
                <a:latin typeface="Montserrat" pitchFamily="2" charset="77"/>
              </a:rPr>
              <a:t>L</a:t>
            </a:r>
            <a:r>
              <a:rPr sz="1200" dirty="0">
                <a:latin typeface="Montserrat" pitchFamily="2" charset="77"/>
              </a:rPr>
              <a:t>earned</a:t>
            </a:r>
            <a:r>
              <a:rPr lang="en-US" sz="1200" dirty="0">
                <a:latin typeface="Montserrat" pitchFamily="2" charset="77"/>
              </a:rPr>
              <a:t> in this Semester ... and Conclusion</a:t>
            </a:r>
            <a:endParaRPr sz="1200" dirty="0">
              <a:latin typeface="Montserrat" pitchFamily="2" charset="7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29097" y="1309243"/>
            <a:ext cx="7874200" cy="339586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171450" indent="-171450">
              <a:lnSpc>
                <a:spcPct val="120000"/>
              </a:lnSpc>
              <a:spcAft>
                <a:spcPts val="400"/>
              </a:spcAft>
              <a:buClr>
                <a:schemeClr val="accent1">
                  <a:lumMod val="75000"/>
                </a:schemeClr>
              </a:buClr>
              <a:buFont typeface="Wingdings" pitchFamily="2" charset="2"/>
              <a:buChar char="v"/>
              <a:defRPr sz="1100">
                <a:solidFill>
                  <a:srgbClr val="2D2D2D"/>
                </a:solidFill>
                <a:latin typeface="Arial"/>
              </a:defRPr>
            </a:pPr>
            <a:r>
              <a:rPr lang="en-US" sz="11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Daily Wheat Direction Forecasting Remains A Weak-Signal Problem.</a:t>
            </a:r>
          </a:p>
          <a:p>
            <a:pPr marL="171450" indent="-171450">
              <a:lnSpc>
                <a:spcPct val="120000"/>
              </a:lnSpc>
              <a:spcAft>
                <a:spcPts val="400"/>
              </a:spcAft>
              <a:buClr>
                <a:schemeClr val="accent1">
                  <a:lumMod val="75000"/>
                </a:schemeClr>
              </a:buClr>
              <a:buFont typeface="Wingdings" pitchFamily="2" charset="2"/>
              <a:buChar char="v"/>
              <a:defRPr sz="1100">
                <a:solidFill>
                  <a:srgbClr val="2D2D2D"/>
                </a:solidFill>
                <a:latin typeface="Arial"/>
              </a:defRPr>
            </a:pPr>
            <a:r>
              <a:rPr lang="en-US" sz="11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TCN And PCA-Augmented TCN Produced The Best Descriptive Holdout Results, But The Improvement Was Modest.</a:t>
            </a:r>
          </a:p>
          <a:p>
            <a:pPr marL="171450" indent="-171450">
              <a:lnSpc>
                <a:spcPct val="120000"/>
              </a:lnSpc>
              <a:spcAft>
                <a:spcPts val="400"/>
              </a:spcAft>
              <a:buClr>
                <a:schemeClr val="accent1">
                  <a:lumMod val="75000"/>
                </a:schemeClr>
              </a:buClr>
              <a:buFont typeface="Wingdings" pitchFamily="2" charset="2"/>
              <a:buChar char="v"/>
              <a:defRPr sz="1100">
                <a:solidFill>
                  <a:srgbClr val="2D2D2D"/>
                </a:solidFill>
                <a:latin typeface="Arial"/>
              </a:defRPr>
            </a:pPr>
            <a:r>
              <a:rPr lang="en-US" sz="11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Chronological Discipline Matters More Than Model Complexity.</a:t>
            </a:r>
          </a:p>
          <a:p>
            <a:pPr marL="171450" indent="-171450">
              <a:lnSpc>
                <a:spcPct val="120000"/>
              </a:lnSpc>
              <a:spcAft>
                <a:spcPts val="400"/>
              </a:spcAft>
              <a:buClr>
                <a:schemeClr val="accent1">
                  <a:lumMod val="75000"/>
                </a:schemeClr>
              </a:buClr>
              <a:buFont typeface="Wingdings" pitchFamily="2" charset="2"/>
              <a:buChar char="v"/>
              <a:defRPr sz="1100">
                <a:solidFill>
                  <a:srgbClr val="2D2D2D"/>
                </a:solidFill>
                <a:latin typeface="Arial"/>
              </a:defRPr>
            </a:pPr>
            <a:r>
              <a:rPr lang="en-US" sz="11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Selective Alternative Data Helped More Than Broad Alternative Data Expansion.</a:t>
            </a:r>
          </a:p>
          <a:p>
            <a:pPr marL="171450" indent="-171450">
              <a:lnSpc>
                <a:spcPct val="120000"/>
              </a:lnSpc>
              <a:spcAft>
                <a:spcPts val="400"/>
              </a:spcAft>
              <a:buClr>
                <a:schemeClr val="accent1">
                  <a:lumMod val="75000"/>
                </a:schemeClr>
              </a:buClr>
              <a:buFont typeface="Wingdings" pitchFamily="2" charset="2"/>
              <a:buChar char="v"/>
              <a:defRPr sz="1100">
                <a:solidFill>
                  <a:srgbClr val="2D2D2D"/>
                </a:solidFill>
                <a:latin typeface="Arial"/>
              </a:defRPr>
            </a:pPr>
            <a:r>
              <a:rPr lang="en-US" sz="11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More Data Did Not Automatically Improve Performance.</a:t>
            </a:r>
          </a:p>
          <a:p>
            <a:pPr marL="171450" indent="-171450">
              <a:lnSpc>
                <a:spcPct val="120000"/>
              </a:lnSpc>
              <a:spcAft>
                <a:spcPts val="400"/>
              </a:spcAft>
              <a:buClr>
                <a:schemeClr val="accent1">
                  <a:lumMod val="75000"/>
                </a:schemeClr>
              </a:buClr>
              <a:buFont typeface="Wingdings" pitchFamily="2" charset="2"/>
              <a:buChar char="v"/>
              <a:defRPr sz="1100">
                <a:solidFill>
                  <a:srgbClr val="2D2D2D"/>
                </a:solidFill>
                <a:latin typeface="Arial"/>
              </a:defRPr>
            </a:pPr>
            <a:r>
              <a:rPr lang="en-US" sz="11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Leakage-Safe Design Was One Of The Most Important Lessons.</a:t>
            </a:r>
          </a:p>
          <a:p>
            <a:pPr marL="171450" indent="-171450">
              <a:lnSpc>
                <a:spcPct val="120000"/>
              </a:lnSpc>
              <a:spcAft>
                <a:spcPts val="400"/>
              </a:spcAft>
              <a:buClr>
                <a:schemeClr val="accent1">
                  <a:lumMod val="75000"/>
                </a:schemeClr>
              </a:buClr>
              <a:buFont typeface="Wingdings" pitchFamily="2" charset="2"/>
              <a:buChar char="v"/>
              <a:defRPr sz="1100">
                <a:solidFill>
                  <a:srgbClr val="2D2D2D"/>
                </a:solidFill>
                <a:latin typeface="Arial"/>
              </a:defRPr>
            </a:pPr>
            <a:r>
              <a:rPr lang="en-US" sz="11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Model Accuracy Alone Is Not Enough For An Investment Strategy.</a:t>
            </a:r>
          </a:p>
          <a:p>
            <a:pPr marL="171450" indent="-171450">
              <a:lnSpc>
                <a:spcPct val="120000"/>
              </a:lnSpc>
              <a:spcAft>
                <a:spcPts val="400"/>
              </a:spcAft>
              <a:buClr>
                <a:schemeClr val="accent1">
                  <a:lumMod val="75000"/>
                </a:schemeClr>
              </a:buClr>
              <a:buFont typeface="Wingdings" pitchFamily="2" charset="2"/>
              <a:buChar char="v"/>
              <a:defRPr sz="1100">
                <a:solidFill>
                  <a:srgbClr val="2D2D2D"/>
                </a:solidFill>
                <a:latin typeface="Arial"/>
              </a:defRPr>
            </a:pPr>
            <a:r>
              <a:rPr lang="en-US" sz="11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MCMC Helped Supplement The Strategy Layer With Posterior Probabilities And Uncertainty.</a:t>
            </a:r>
          </a:p>
          <a:p>
            <a:pPr marL="171450" indent="-171450">
              <a:lnSpc>
                <a:spcPct val="120000"/>
              </a:lnSpc>
              <a:spcAft>
                <a:spcPts val="400"/>
              </a:spcAft>
              <a:buClr>
                <a:schemeClr val="accent1">
                  <a:lumMod val="75000"/>
                </a:schemeClr>
              </a:buClr>
              <a:buFont typeface="Wingdings" pitchFamily="2" charset="2"/>
              <a:buChar char="v"/>
              <a:defRPr sz="1100">
                <a:solidFill>
                  <a:srgbClr val="2D2D2D"/>
                </a:solidFill>
                <a:latin typeface="Arial"/>
              </a:defRPr>
            </a:pPr>
            <a:r>
              <a:rPr lang="en-US" sz="11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The Long-Flat Strategy Reduced Exposure During A Bearish Holdout Window.</a:t>
            </a:r>
          </a:p>
          <a:p>
            <a:pPr marL="171450" indent="-171450">
              <a:lnSpc>
                <a:spcPct val="120000"/>
              </a:lnSpc>
              <a:spcAft>
                <a:spcPts val="400"/>
              </a:spcAft>
              <a:buClr>
                <a:schemeClr val="accent1">
                  <a:lumMod val="75000"/>
                </a:schemeClr>
              </a:buClr>
              <a:buFont typeface="Wingdings" pitchFamily="2" charset="2"/>
              <a:buChar char="v"/>
              <a:defRPr sz="1100">
                <a:solidFill>
                  <a:srgbClr val="2D2D2D"/>
                </a:solidFill>
                <a:latin typeface="Arial"/>
              </a:defRPr>
            </a:pPr>
            <a:r>
              <a:rPr lang="en-US" sz="11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The Strategy Result Should Be Interpreted As Risk Management, Not Proof Of Alpha.</a:t>
            </a:r>
          </a:p>
          <a:p>
            <a:pPr marL="171450" indent="-171450">
              <a:lnSpc>
                <a:spcPct val="120000"/>
              </a:lnSpc>
              <a:spcAft>
                <a:spcPts val="400"/>
              </a:spcAft>
              <a:buClr>
                <a:schemeClr val="accent1">
                  <a:lumMod val="75000"/>
                </a:schemeClr>
              </a:buClr>
              <a:buFont typeface="Wingdings" pitchFamily="2" charset="2"/>
              <a:buChar char="v"/>
              <a:defRPr sz="1100">
                <a:solidFill>
                  <a:srgbClr val="2D2D2D"/>
                </a:solidFill>
                <a:latin typeface="Arial"/>
              </a:defRPr>
            </a:pPr>
            <a:r>
              <a:rPr lang="en-US" sz="1100" b="1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Overall, The Project Became A Reproducible And Cautious ML Forecasting Evaluation.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61EB3A-11A5-7444-9EC1-6F7B3EC78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03869D7-6607-0B97-FFF0-915862A67CA1}"/>
              </a:ext>
            </a:extLst>
          </p:cNvPr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C1A71B-B682-CFAE-F27F-E3BE93097F5A}"/>
              </a:ext>
            </a:extLst>
          </p:cNvPr>
          <p:cNvSpPr txBox="1"/>
          <p:nvPr/>
        </p:nvSpPr>
        <p:spPr>
          <a:xfrm>
            <a:off x="275590" y="125730"/>
            <a:ext cx="645115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66091"/>
                </a:solidFill>
                <a:latin typeface="Arial"/>
              </a:defRPr>
            </a:pPr>
            <a:r>
              <a:rPr dirty="0">
                <a:solidFill>
                  <a:schemeClr val="accent1">
                    <a:lumMod val="75000"/>
                  </a:schemeClr>
                </a:solidFill>
              </a:rPr>
              <a:t>5. Future Work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(Next Semester Tasks?)</a:t>
            </a:r>
            <a:endParaRPr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CAA498-F2E3-4F42-D7D3-DD4CD2A09E9F}"/>
              </a:ext>
            </a:extLst>
          </p:cNvPr>
          <p:cNvSpPr txBox="1"/>
          <p:nvPr/>
        </p:nvSpPr>
        <p:spPr>
          <a:xfrm>
            <a:off x="320040" y="4864608"/>
            <a:ext cx="8503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96969"/>
                </a:solidFill>
                <a:latin typeface="Arial"/>
              </a:defRPr>
            </a:pPr>
            <a:r>
              <a:t>VIP Forecasting Project | Kenji Funaki | May 2026 | 5/5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9755F1-718C-9F5F-97B9-18A32B38A99B}"/>
              </a:ext>
            </a:extLst>
          </p:cNvPr>
          <p:cNvSpPr txBox="1"/>
          <p:nvPr/>
        </p:nvSpPr>
        <p:spPr>
          <a:xfrm>
            <a:off x="408530" y="677267"/>
            <a:ext cx="8326940" cy="567908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228600" indent="-228600">
              <a:lnSpc>
                <a:spcPct val="120000"/>
              </a:lnSpc>
              <a:spcAft>
                <a:spcPts val="400"/>
              </a:spcAft>
              <a:buClr>
                <a:schemeClr val="accent1">
                  <a:lumMod val="75000"/>
                </a:schemeClr>
              </a:buClr>
              <a:buFont typeface="+mj-lt"/>
              <a:buAutoNum type="arabicPeriod"/>
              <a:defRPr sz="1100">
                <a:solidFill>
                  <a:srgbClr val="2D2D2D"/>
                </a:solidFill>
                <a:latin typeface="Arial"/>
              </a:defRPr>
            </a:pPr>
            <a:r>
              <a:rPr lang="en-US" sz="13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Add </a:t>
            </a:r>
            <a:r>
              <a:rPr lang="en-US" sz="1300" b="1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Alternative Trading Rules </a:t>
            </a:r>
            <a:r>
              <a:rPr lang="en-US" sz="13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Beyond Long-Flat, Such As </a:t>
            </a:r>
            <a:r>
              <a:rPr lang="en-US" sz="1300" b="1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Long-Short, Volatility-Scaled Exposure, Confidence-Weighted Sizing, And Stop-Loss / Take-Profit Rules</a:t>
            </a:r>
            <a:r>
              <a:rPr lang="en-US" sz="13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.</a:t>
            </a:r>
          </a:p>
          <a:p>
            <a:pPr marL="228600" indent="-228600">
              <a:lnSpc>
                <a:spcPct val="120000"/>
              </a:lnSpc>
              <a:spcAft>
                <a:spcPts val="400"/>
              </a:spcAft>
              <a:buClr>
                <a:schemeClr val="accent1">
                  <a:lumMod val="75000"/>
                </a:schemeClr>
              </a:buClr>
              <a:buFont typeface="+mj-lt"/>
              <a:buAutoNum type="arabicPeriod"/>
              <a:defRPr sz="1100">
                <a:solidFill>
                  <a:srgbClr val="2D2D2D"/>
                </a:solidFill>
                <a:latin typeface="Arial"/>
              </a:defRPr>
            </a:pPr>
            <a:r>
              <a:rPr lang="en-US" sz="1300" b="1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Extend The MCMC Model </a:t>
            </a:r>
            <a:r>
              <a:rPr lang="en-US" sz="13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So Posterior Uncertainty Affects Position Size, Not Only The Trade/No-Trade Threshold.</a:t>
            </a:r>
          </a:p>
          <a:p>
            <a:pPr marL="228600" indent="-228600">
              <a:lnSpc>
                <a:spcPct val="120000"/>
              </a:lnSpc>
              <a:spcAft>
                <a:spcPts val="400"/>
              </a:spcAft>
              <a:buClr>
                <a:schemeClr val="accent1">
                  <a:lumMod val="75000"/>
                </a:schemeClr>
              </a:buClr>
              <a:buFont typeface="+mj-lt"/>
              <a:buAutoNum type="arabicPeriod"/>
              <a:defRPr sz="1100">
                <a:solidFill>
                  <a:srgbClr val="2D2D2D"/>
                </a:solidFill>
                <a:latin typeface="Arial"/>
              </a:defRPr>
            </a:pPr>
            <a:r>
              <a:rPr lang="en-US" sz="13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Compare TCN Probabilities, Bayesian Posterior-Mean Probabilities, </a:t>
            </a:r>
            <a:r>
              <a:rPr lang="en-US" sz="1300" b="1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And Ensemble Probabilities </a:t>
            </a:r>
            <a:r>
              <a:rPr lang="en-US" sz="13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Under The Same Strategy Rules.</a:t>
            </a:r>
          </a:p>
          <a:p>
            <a:pPr marL="228600" indent="-228600">
              <a:lnSpc>
                <a:spcPct val="120000"/>
              </a:lnSpc>
              <a:spcAft>
                <a:spcPts val="400"/>
              </a:spcAft>
              <a:buClr>
                <a:schemeClr val="accent1">
                  <a:lumMod val="75000"/>
                </a:schemeClr>
              </a:buClr>
              <a:buFont typeface="+mj-lt"/>
              <a:buAutoNum type="arabicPeriod"/>
              <a:defRPr sz="1100">
                <a:solidFill>
                  <a:srgbClr val="2D2D2D"/>
                </a:solidFill>
                <a:latin typeface="Arial"/>
              </a:defRPr>
            </a:pPr>
            <a:r>
              <a:rPr lang="en-US" sz="1300" b="1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Add Transaction-Aware Strategy Testing </a:t>
            </a:r>
            <a:r>
              <a:rPr lang="en-US" sz="13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With Commissions, Slippage, Bid-Ask Spread, Futures Rolls, Margin, And Contract Multipliers.</a:t>
            </a:r>
          </a:p>
          <a:p>
            <a:pPr marL="228600" indent="-228600">
              <a:lnSpc>
                <a:spcPct val="120000"/>
              </a:lnSpc>
              <a:spcAft>
                <a:spcPts val="400"/>
              </a:spcAft>
              <a:buClr>
                <a:schemeClr val="accent1">
                  <a:lumMod val="75000"/>
                </a:schemeClr>
              </a:buClr>
              <a:buFont typeface="+mj-lt"/>
              <a:buAutoNum type="arabicPeriod"/>
              <a:defRPr sz="1100">
                <a:solidFill>
                  <a:srgbClr val="2D2D2D"/>
                </a:solidFill>
                <a:latin typeface="Arial"/>
              </a:defRPr>
            </a:pPr>
            <a:r>
              <a:rPr lang="en-US" sz="13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Run Walk-Forward Strategy Validation With </a:t>
            </a:r>
            <a:r>
              <a:rPr lang="en-US" sz="1300" b="1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Expanding Windows </a:t>
            </a:r>
            <a:r>
              <a:rPr lang="en-US" sz="13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So Each Rule Is Tested Across Multiple Market Regimes.</a:t>
            </a:r>
          </a:p>
          <a:p>
            <a:pPr marL="228600" indent="-228600">
              <a:lnSpc>
                <a:spcPct val="120000"/>
              </a:lnSpc>
              <a:spcAft>
                <a:spcPts val="400"/>
              </a:spcAft>
              <a:buClr>
                <a:schemeClr val="accent1">
                  <a:lumMod val="75000"/>
                </a:schemeClr>
              </a:buClr>
              <a:buFont typeface="+mj-lt"/>
              <a:buAutoNum type="arabicPeriod"/>
              <a:defRPr sz="1100">
                <a:solidFill>
                  <a:srgbClr val="2D2D2D"/>
                </a:solidFill>
                <a:latin typeface="Arial"/>
              </a:defRPr>
            </a:pPr>
            <a:r>
              <a:rPr lang="en-US" sz="13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Use MCMC Posterior Predictive Draws To </a:t>
            </a:r>
            <a:r>
              <a:rPr lang="en-US" sz="1300" b="1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Stress-Test Strategy Outcomes</a:t>
            </a:r>
            <a:r>
              <a:rPr lang="en-US" sz="13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, Including Downside Risk And Probability Of Loss.</a:t>
            </a:r>
          </a:p>
          <a:p>
            <a:pPr marL="228600" indent="-228600">
              <a:lnSpc>
                <a:spcPct val="120000"/>
              </a:lnSpc>
              <a:spcAft>
                <a:spcPts val="400"/>
              </a:spcAft>
              <a:buClr>
                <a:schemeClr val="accent1">
                  <a:lumMod val="75000"/>
                </a:schemeClr>
              </a:buClr>
              <a:buFont typeface="+mj-lt"/>
              <a:buAutoNum type="arabicPeriod"/>
              <a:defRPr sz="1100">
                <a:solidFill>
                  <a:srgbClr val="2D2D2D"/>
                </a:solidFill>
                <a:latin typeface="Arial"/>
              </a:defRPr>
            </a:pPr>
            <a:r>
              <a:rPr lang="en-US" sz="1300" b="1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Explore Regime-Aware Bayesian Models</a:t>
            </a:r>
            <a:r>
              <a:rPr lang="en-US" sz="13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, Where Parameters Or Thresholds Can Differ Across High-Volatility, Low-Volatility, And Macro-Stress Periods.</a:t>
            </a:r>
          </a:p>
        </p:txBody>
      </p:sp>
    </p:spTree>
    <p:extLst>
      <p:ext uri="{BB962C8B-B14F-4D97-AF65-F5344CB8AC3E}">
        <p14:creationId xmlns:p14="http://schemas.microsoft.com/office/powerpoint/2010/main" val="32196214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>
            <a:spLocks noGrp="1"/>
          </p:cNvSpPr>
          <p:nvPr>
            <p:ph type="title"/>
          </p:nvPr>
        </p:nvSpPr>
        <p:spPr>
          <a:xfrm>
            <a:off x="904850" y="1253682"/>
            <a:ext cx="7333800" cy="15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Thank You!</a:t>
            </a:r>
            <a:endParaRPr dirty="0"/>
          </a:p>
        </p:txBody>
      </p:sp>
      <p:sp>
        <p:nvSpPr>
          <p:cNvPr id="118" name="Google Shape;118;p21"/>
          <p:cNvSpPr txBox="1">
            <a:spLocks noGrp="1"/>
          </p:cNvSpPr>
          <p:nvPr>
            <p:ph type="body" idx="2"/>
          </p:nvPr>
        </p:nvSpPr>
        <p:spPr>
          <a:xfrm>
            <a:off x="2496200" y="3804429"/>
            <a:ext cx="4151400" cy="30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9" name="Google Shape;119;p21"/>
          <p:cNvSpPr txBox="1">
            <a:spLocks noGrp="1"/>
          </p:cNvSpPr>
          <p:nvPr>
            <p:ph type="subTitle" idx="1"/>
          </p:nvPr>
        </p:nvSpPr>
        <p:spPr>
          <a:xfrm>
            <a:off x="2496050" y="2706049"/>
            <a:ext cx="4151400" cy="7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en" dirty="0"/>
              <a:t>Kenji Funaki</a:t>
            </a:r>
            <a:br>
              <a:rPr lang="en" dirty="0"/>
            </a:br>
            <a:r>
              <a:rPr lang="en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kf2623@nyu.edu</a:t>
            </a:r>
            <a:br>
              <a:rPr lang="en" dirty="0">
                <a:solidFill>
                  <a:schemeClr val="bg1"/>
                </a:solidFill>
              </a:rPr>
            </a:br>
            <a:r>
              <a:rPr lang="en-US" sz="1200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https://www.linkedin.com/in/kfunaki/</a:t>
            </a:r>
            <a:endParaRPr lang="en-US" sz="1200" dirty="0">
              <a:solidFill>
                <a:schemeClr val="bg1"/>
              </a:solidFill>
            </a:endParaRPr>
          </a:p>
          <a:p>
            <a:pPr marL="0" lvl="0" indent="0">
              <a:spcAft>
                <a:spcPts val="1600"/>
              </a:spcAft>
            </a:pPr>
            <a:br>
              <a:rPr lang="en" dirty="0"/>
            </a:b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YU Elegant">
  <a:themeElements>
    <a:clrScheme name="Simple Light">
      <a:dk1>
        <a:srgbClr val="57068C"/>
      </a:dk1>
      <a:lt1>
        <a:srgbClr val="FFFFFF"/>
      </a:lt1>
      <a:dk2>
        <a:srgbClr val="333333"/>
      </a:dk2>
      <a:lt2>
        <a:srgbClr val="E3DFE9"/>
      </a:lt2>
      <a:accent1>
        <a:srgbClr val="9A6ABA"/>
      </a:accent1>
      <a:accent2>
        <a:srgbClr val="6D6D6D"/>
      </a:accent2>
      <a:accent3>
        <a:srgbClr val="007E8A"/>
      </a:accent3>
      <a:accent4>
        <a:srgbClr val="E97300"/>
      </a:accent4>
      <a:accent5>
        <a:srgbClr val="799A05"/>
      </a:accent5>
      <a:accent6>
        <a:srgbClr val="C50F3C"/>
      </a:accent6>
      <a:hlink>
        <a:srgbClr val="57068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2476</TotalTime>
  <Words>2524</Words>
  <Application>Microsoft Macintosh PowerPoint</Application>
  <PresentationFormat>On-screen Show (16:9)</PresentationFormat>
  <Paragraphs>211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Montserrat</vt:lpstr>
      <vt:lpstr>Arial</vt:lpstr>
      <vt:lpstr>Aptos</vt:lpstr>
      <vt:lpstr>Montserrat SemiBold</vt:lpstr>
      <vt:lpstr>Wingdings</vt:lpstr>
      <vt:lpstr>Frank Ruhl Libre</vt:lpstr>
      <vt:lpstr>NYU Elegant</vt:lpstr>
      <vt:lpstr>VIP –ML for Agricultural Commodity Market</vt:lpstr>
      <vt:lpstr>Alternative Data for Wheat Futures  (TCN Model) :Recap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Funaki Kenji-NYK</cp:lastModifiedBy>
  <cp:revision>20</cp:revision>
  <dcterms:modified xsi:type="dcterms:W3CDTF">2026-05-12T05:14:12Z</dcterms:modified>
</cp:coreProperties>
</file>